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9"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301" y="4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6882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3048" y="1866"/>
            <a:ext cx="12188952" cy="822960"/>
          </a:xfrm>
          <a:prstGeom prst="rect">
            <a:avLst/>
          </a:prstGeom>
          <a:noFill/>
          <a:ln/>
        </p:spPr>
        <p:txBody>
          <a:bodyPr wrap="square" rtlCol="0" anchor="ctr"/>
          <a:lstStyle/>
          <a:p>
            <a:pPr marL="0" indent="0" algn="ctr">
              <a:buNone/>
            </a:pPr>
            <a:r>
              <a:rPr lang="en-US" sz="2400" b="1" dirty="0">
                <a:solidFill>
                  <a:srgbClr val="C1272D"/>
                </a:solidFill>
                <a:latin typeface="Cambria" pitchFamily="34" charset="0"/>
                <a:ea typeface="Cambria" pitchFamily="34" charset="-122"/>
                <a:cs typeface="Cambria" pitchFamily="34" charset="-120"/>
              </a:rPr>
              <a:t>Project Review -1</a:t>
            </a:r>
            <a:endParaRPr lang="en-US" sz="2400" dirty="0"/>
          </a:p>
        </p:txBody>
      </p:sp>
      <p:sp>
        <p:nvSpPr>
          <p:cNvPr id="4" name="Text 2"/>
          <p:cNvSpPr/>
          <p:nvPr/>
        </p:nvSpPr>
        <p:spPr>
          <a:xfrm>
            <a:off x="83976" y="1562737"/>
            <a:ext cx="12188952" cy="365760"/>
          </a:xfrm>
          <a:prstGeom prst="rect">
            <a:avLst/>
          </a:prstGeom>
          <a:noFill/>
          <a:ln/>
        </p:spPr>
        <p:txBody>
          <a:bodyPr wrap="square" rtlCol="0" anchor="ctr"/>
          <a:lstStyle/>
          <a:p>
            <a:pPr marL="0" indent="0" algn="ctr">
              <a:buNone/>
            </a:pPr>
            <a:endParaRPr lang="en-US" sz="1800" dirty="0"/>
          </a:p>
        </p:txBody>
      </p:sp>
      <p:sp>
        <p:nvSpPr>
          <p:cNvPr id="5" name="Text 3"/>
          <p:cNvSpPr/>
          <p:nvPr/>
        </p:nvSpPr>
        <p:spPr>
          <a:xfrm>
            <a:off x="914400" y="769962"/>
            <a:ext cx="10360152" cy="914400"/>
          </a:xfrm>
          <a:prstGeom prst="rect">
            <a:avLst/>
          </a:prstGeom>
          <a:noFill/>
          <a:ln/>
        </p:spPr>
        <p:txBody>
          <a:bodyPr wrap="square" rtlCol="0" anchor="ctr"/>
          <a:lstStyle/>
          <a:p>
            <a:pPr marL="0" indent="0" algn="ctr">
              <a:buNone/>
            </a:pPr>
            <a:r>
              <a:rPr lang="en-US" sz="3000" dirty="0">
                <a:solidFill>
                  <a:srgbClr val="1C2333"/>
                </a:solidFill>
                <a:latin typeface="Cambria" pitchFamily="34" charset="0"/>
                <a:ea typeface="Cambria" pitchFamily="34" charset="-122"/>
                <a:cs typeface="Cambria" pitchFamily="34" charset="-120"/>
              </a:rPr>
              <a:t>Sentinel: Data Reliability Platform</a:t>
            </a:r>
            <a:endParaRPr lang="en-US" sz="3000" dirty="0"/>
          </a:p>
        </p:txBody>
      </p:sp>
      <p:sp>
        <p:nvSpPr>
          <p:cNvPr id="6" name="Text 4"/>
          <p:cNvSpPr/>
          <p:nvPr/>
        </p:nvSpPr>
        <p:spPr>
          <a:xfrm>
            <a:off x="-13716" y="1812378"/>
            <a:ext cx="12188952" cy="274320"/>
          </a:xfrm>
          <a:prstGeom prst="rect">
            <a:avLst/>
          </a:prstGeom>
          <a:noFill/>
          <a:ln/>
        </p:spPr>
        <p:txBody>
          <a:bodyPr wrap="square" rtlCol="0" anchor="ctr"/>
          <a:lstStyle/>
          <a:p>
            <a:pPr marL="0" indent="0" algn="ctr">
              <a:buNone/>
            </a:pPr>
            <a:r>
              <a:rPr lang="en-US" sz="2000" b="1" dirty="0">
                <a:solidFill>
                  <a:srgbClr val="1CADE4"/>
                </a:solidFill>
                <a:latin typeface="Calibri" pitchFamily="34" charset="0"/>
                <a:ea typeface="Calibri" pitchFamily="34" charset="-122"/>
                <a:cs typeface="Calibri" pitchFamily="34" charset="-120"/>
              </a:rPr>
              <a:t>By</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887897527"/>
              </p:ext>
            </p:extLst>
          </p:nvPr>
        </p:nvGraphicFramePr>
        <p:xfrm>
          <a:off x="3500845" y="2190330"/>
          <a:ext cx="4114800" cy="670560"/>
        </p:xfrm>
        <a:graphic>
          <a:graphicData uri="http://schemas.openxmlformats.org/drawingml/2006/table">
            <a:tbl>
              <a:tblPr/>
              <a:tblGrid>
                <a:gridCol w="25603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256032">
                <a:tc>
                  <a:txBody>
                    <a:bodyPr/>
                    <a:lstStyle/>
                    <a:p>
                      <a:pPr marL="0" indent="0" algn="r">
                        <a:buNone/>
                      </a:pPr>
                      <a:r>
                        <a:rPr lang="en-US" sz="1600" dirty="0">
                          <a:solidFill>
                            <a:srgbClr val="1C2333"/>
                          </a:solidFill>
                          <a:latin typeface="Calibri" pitchFamily="34" charset="0"/>
                          <a:ea typeface="Calibri" pitchFamily="34" charset="-122"/>
                          <a:cs typeface="Calibri" pitchFamily="34" charset="-120"/>
                        </a:rPr>
                        <a:t>R VARSHITHA</a:t>
                      </a:r>
                      <a:endParaRPr lang="en-US" sz="16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tc>
                  <a:txBody>
                    <a:bodyPr/>
                    <a:lstStyle/>
                    <a:p>
                      <a:pPr marL="0" indent="0" algn="l">
                        <a:buNone/>
                      </a:pPr>
                      <a:r>
                        <a:rPr lang="en-US" sz="1600" dirty="0">
                          <a:solidFill>
                            <a:srgbClr val="1C2333"/>
                          </a:solidFill>
                          <a:latin typeface="Calibri" pitchFamily="34" charset="0"/>
                          <a:ea typeface="Calibri" pitchFamily="34" charset="-122"/>
                          <a:cs typeface="Calibri" pitchFamily="34" charset="-120"/>
                        </a:rPr>
                        <a:t>2420030536</a:t>
                      </a:r>
                      <a:endParaRPr lang="en-US" sz="16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r h="256032">
                <a:tc>
                  <a:txBody>
                    <a:bodyPr/>
                    <a:lstStyle/>
                    <a:p>
                      <a:pPr marL="0" indent="0" algn="r">
                        <a:buNone/>
                      </a:pPr>
                      <a:r>
                        <a:rPr lang="en-US" sz="1600" dirty="0">
                          <a:solidFill>
                            <a:srgbClr val="1C2333"/>
                          </a:solidFill>
                          <a:latin typeface="Calibri" pitchFamily="34" charset="0"/>
                          <a:ea typeface="Calibri" pitchFamily="34" charset="-122"/>
                          <a:cs typeface="Calibri" pitchFamily="34" charset="-120"/>
                        </a:rPr>
                        <a:t>K LAVANYA</a:t>
                      </a:r>
                      <a:endParaRPr lang="en-US" sz="16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1C2333"/>
                          </a:solidFill>
                          <a:latin typeface="Calibri" pitchFamily="34" charset="0"/>
                          <a:ea typeface="Calibri" pitchFamily="34" charset="-122"/>
                          <a:cs typeface="Calibri" pitchFamily="34" charset="-120"/>
                        </a:rPr>
                        <a:t>2420030649</a:t>
                      </a:r>
                      <a:endParaRPr lang="en-US" sz="16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bl>
          </a:graphicData>
        </a:graphic>
      </p:graphicFrame>
      <p:sp>
        <p:nvSpPr>
          <p:cNvPr id="8" name="Text 5"/>
          <p:cNvSpPr/>
          <p:nvPr/>
        </p:nvSpPr>
        <p:spPr>
          <a:xfrm>
            <a:off x="-13716" y="3032169"/>
            <a:ext cx="12188952" cy="320040"/>
          </a:xfrm>
          <a:prstGeom prst="rect">
            <a:avLst/>
          </a:prstGeom>
          <a:noFill/>
          <a:ln/>
        </p:spPr>
        <p:txBody>
          <a:bodyPr wrap="square" rtlCol="0" anchor="ctr"/>
          <a:lstStyle/>
          <a:p>
            <a:pPr marL="0" indent="0" algn="ctr">
              <a:buNone/>
            </a:pPr>
            <a:r>
              <a:rPr lang="en-US" sz="2400" b="1" dirty="0">
                <a:solidFill>
                  <a:srgbClr val="1CADE4"/>
                </a:solidFill>
                <a:latin typeface="Calibri" pitchFamily="34" charset="0"/>
                <a:ea typeface="Calibri" pitchFamily="34" charset="-122"/>
                <a:cs typeface="Calibri" pitchFamily="34" charset="-120"/>
              </a:rPr>
              <a:t>Team Number: 26</a:t>
            </a:r>
            <a:endParaRPr lang="en-US" sz="2400" dirty="0"/>
          </a:p>
        </p:txBody>
      </p:sp>
      <p:sp>
        <p:nvSpPr>
          <p:cNvPr id="9" name="Text 6"/>
          <p:cNvSpPr/>
          <p:nvPr/>
        </p:nvSpPr>
        <p:spPr>
          <a:xfrm>
            <a:off x="-33282" y="4038009"/>
            <a:ext cx="12188952" cy="274320"/>
          </a:xfrm>
          <a:prstGeom prst="rect">
            <a:avLst/>
          </a:prstGeom>
          <a:noFill/>
          <a:ln/>
        </p:spPr>
        <p:txBody>
          <a:bodyPr wrap="square" rtlCol="0" anchor="ctr"/>
          <a:lstStyle/>
          <a:p>
            <a:pPr marL="0" indent="0" algn="ctr">
              <a:buNone/>
            </a:pPr>
            <a:r>
              <a:rPr lang="en-US" b="1" i="1" dirty="0">
                <a:solidFill>
                  <a:srgbClr val="C1272D"/>
                </a:solidFill>
                <a:latin typeface="Calibri" pitchFamily="34" charset="0"/>
                <a:ea typeface="Calibri" pitchFamily="34" charset="-122"/>
                <a:cs typeface="Calibri" pitchFamily="34" charset="-120"/>
              </a:rPr>
              <a:t>Under the guidance of</a:t>
            </a:r>
            <a:endParaRPr lang="en-US" dirty="0"/>
          </a:p>
        </p:txBody>
      </p:sp>
      <p:sp>
        <p:nvSpPr>
          <p:cNvPr id="10" name="Text 7"/>
          <p:cNvSpPr/>
          <p:nvPr/>
        </p:nvSpPr>
        <p:spPr>
          <a:xfrm>
            <a:off x="-13716" y="4405822"/>
            <a:ext cx="12188952" cy="502920"/>
          </a:xfrm>
          <a:prstGeom prst="rect">
            <a:avLst/>
          </a:prstGeom>
          <a:noFill/>
          <a:ln/>
        </p:spPr>
        <p:txBody>
          <a:bodyPr wrap="square" rtlCol="0" anchor="ctr"/>
          <a:lstStyle/>
          <a:p>
            <a:pPr marL="0" indent="0" algn="ctr">
              <a:buNone/>
            </a:pPr>
            <a:r>
              <a:rPr lang="en-US" b="1" dirty="0">
                <a:solidFill>
                  <a:srgbClr val="1CADE4"/>
                </a:solidFill>
                <a:latin typeface="Calibri" pitchFamily="34" charset="0"/>
                <a:ea typeface="Calibri" pitchFamily="34" charset="-122"/>
                <a:cs typeface="Calibri" pitchFamily="34" charset="-120"/>
              </a:rPr>
              <a:t>Dr. N. SIRISHA</a:t>
            </a:r>
          </a:p>
          <a:p>
            <a:pPr marL="0" indent="0" algn="ctr">
              <a:buNone/>
            </a:pPr>
            <a:r>
              <a:rPr lang="en-US" b="1" dirty="0">
                <a:solidFill>
                  <a:srgbClr val="1CADE4"/>
                </a:solidFill>
                <a:latin typeface="Calibri" pitchFamily="34" charset="0"/>
                <a:ea typeface="Calibri" pitchFamily="34" charset="-122"/>
                <a:cs typeface="Calibri" pitchFamily="34" charset="-120"/>
              </a:rPr>
              <a:t>ASSOCIATE PROFESSOR</a:t>
            </a:r>
            <a:endParaRPr lang="en-US" dirty="0"/>
          </a:p>
        </p:txBody>
      </p:sp>
      <p:sp>
        <p:nvSpPr>
          <p:cNvPr id="11" name="Text 8"/>
          <p:cNvSpPr/>
          <p:nvPr/>
        </p:nvSpPr>
        <p:spPr>
          <a:xfrm>
            <a:off x="83976" y="5302127"/>
            <a:ext cx="12188952" cy="320040"/>
          </a:xfrm>
          <a:prstGeom prst="rect">
            <a:avLst/>
          </a:prstGeom>
          <a:noFill/>
          <a:ln/>
        </p:spPr>
        <p:txBody>
          <a:bodyPr wrap="square" rtlCol="0" anchor="ctr"/>
          <a:lstStyle/>
          <a:p>
            <a:pPr marL="0" indent="0" algn="ctr">
              <a:buNone/>
            </a:pPr>
            <a:r>
              <a:rPr lang="en-US" sz="1600" b="1" dirty="0">
                <a:solidFill>
                  <a:srgbClr val="1F6FD1"/>
                </a:solidFill>
                <a:latin typeface="Calibri" pitchFamily="34" charset="0"/>
                <a:ea typeface="Calibri" pitchFamily="34" charset="-122"/>
                <a:cs typeface="Calibri" pitchFamily="34" charset="-120"/>
              </a:rPr>
              <a:t>Department of Computer Science and Engineering</a:t>
            </a:r>
            <a:endParaRPr lang="en-US" sz="1600" dirty="0"/>
          </a:p>
        </p:txBody>
      </p:sp>
      <p:pic>
        <p:nvPicPr>
          <p:cNvPr id="12" name="Image 0" descr="klh_logo.png"/>
          <p:cNvPicPr>
            <a:picLocks noChangeAspect="1"/>
          </p:cNvPicPr>
          <p:nvPr/>
        </p:nvPicPr>
        <p:blipFill>
          <a:blip r:embed="rId3"/>
          <a:stretch>
            <a:fillRect/>
          </a:stretch>
        </p:blipFill>
        <p:spPr>
          <a:xfrm>
            <a:off x="3048" y="126834"/>
            <a:ext cx="2286000" cy="749808"/>
          </a:xfrm>
          <a:prstGeom prst="rect">
            <a:avLst/>
          </a:prstGeom>
        </p:spPr>
      </p:pic>
      <p:sp>
        <p:nvSpPr>
          <p:cNvPr id="13" name="Text 9"/>
          <p:cNvSpPr/>
          <p:nvPr/>
        </p:nvSpPr>
        <p:spPr>
          <a:xfrm>
            <a:off x="83976" y="6555241"/>
            <a:ext cx="12188952" cy="292608"/>
          </a:xfrm>
          <a:prstGeom prst="rect">
            <a:avLst/>
          </a:prstGeom>
          <a:noFill/>
          <a:ln/>
        </p:spPr>
        <p:txBody>
          <a:bodyPr wrap="square" rtlCol="0" anchor="ctr"/>
          <a:lstStyle/>
          <a:p>
            <a:pPr marL="0" indent="0" algn="ctr">
              <a:buNone/>
            </a:pPr>
            <a:r>
              <a:rPr lang="en-US" sz="1500" b="1" dirty="0">
                <a:solidFill>
                  <a:srgbClr val="1C2333"/>
                </a:solidFill>
                <a:latin typeface="Cambria" pitchFamily="34" charset="0"/>
                <a:ea typeface="Cambria" pitchFamily="34" charset="-122"/>
                <a:cs typeface="Cambria" pitchFamily="34" charset="-120"/>
              </a:rPr>
              <a:t>Koneru Lakshmaiah Education Foundation</a:t>
            </a:r>
            <a:endParaRPr lang="en-US" sz="1500" dirty="0"/>
          </a:p>
        </p:txBody>
      </p:sp>
      <p:pic>
        <p:nvPicPr>
          <p:cNvPr id="15" name="Image 0" descr="klh_logo.png">
            <a:extLst>
              <a:ext uri="{FF2B5EF4-FFF2-40B4-BE49-F238E27FC236}">
                <a16:creationId xmlns:a16="http://schemas.microsoft.com/office/drawing/2014/main" id="{424B73FB-E1AD-E3A1-633F-C032215E6153}"/>
              </a:ext>
            </a:extLst>
          </p:cNvPr>
          <p:cNvPicPr>
            <a:picLocks noChangeAspect="1"/>
          </p:cNvPicPr>
          <p:nvPr/>
        </p:nvPicPr>
        <p:blipFill>
          <a:blip r:embed="rId3"/>
          <a:stretch>
            <a:fillRect/>
          </a:stretch>
        </p:blipFill>
        <p:spPr>
          <a:xfrm>
            <a:off x="4848746" y="5788152"/>
            <a:ext cx="2286000" cy="7498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872" y="-122405"/>
            <a:ext cx="9144000" cy="118872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Introduction</a:t>
            </a:r>
            <a:endParaRPr lang="en-US" sz="3200" dirty="0"/>
          </a:p>
        </p:txBody>
      </p:sp>
      <p:sp>
        <p:nvSpPr>
          <p:cNvPr id="4" name="Text 2"/>
          <p:cNvSpPr/>
          <p:nvPr/>
        </p:nvSpPr>
        <p:spPr>
          <a:xfrm>
            <a:off x="580668" y="6279178"/>
            <a:ext cx="11360642" cy="640080"/>
          </a:xfrm>
          <a:prstGeom prst="rect">
            <a:avLst/>
          </a:prstGeom>
          <a:noFill/>
          <a:ln/>
        </p:spPr>
        <p:txBody>
          <a:bodyPr wrap="square" rtlCol="0" anchor="ctr"/>
          <a:lstStyle/>
          <a:p>
            <a:pPr marL="0" indent="0">
              <a:buNone/>
            </a:pPr>
            <a:r>
              <a:rPr lang="en-US" sz="1600" i="1" dirty="0">
                <a:solidFill>
                  <a:srgbClr val="5B6478"/>
                </a:solidFill>
                <a:latin typeface="Calibri" pitchFamily="34" charset="0"/>
                <a:ea typeface="Calibri" pitchFamily="34" charset="-122"/>
                <a:cs typeface="Calibri" pitchFamily="34" charset="-120"/>
              </a:rPr>
              <a:t>Sentinel checks whether data can be trusted before anyone uses it — and later, whether AI systems can be trusted with what they log.</a:t>
            </a:r>
            <a:endParaRPr lang="en-US" sz="1600" dirty="0"/>
          </a:p>
        </p:txBody>
      </p:sp>
      <p:pic>
        <p:nvPicPr>
          <p:cNvPr id="21" name="Image 0" descr="klh_logo.png">
            <a:extLst>
              <a:ext uri="{FF2B5EF4-FFF2-40B4-BE49-F238E27FC236}">
                <a16:creationId xmlns:a16="http://schemas.microsoft.com/office/drawing/2014/main" id="{818D94E6-D6DF-ECD3-60A4-3FE0A3FBB180}"/>
              </a:ext>
            </a:extLst>
          </p:cNvPr>
          <p:cNvPicPr>
            <a:picLocks noChangeAspect="1"/>
          </p:cNvPicPr>
          <p:nvPr/>
        </p:nvPicPr>
        <p:blipFill>
          <a:blip r:embed="rId3"/>
          <a:stretch>
            <a:fillRect/>
          </a:stretch>
        </p:blipFill>
        <p:spPr>
          <a:xfrm>
            <a:off x="10039265" y="160020"/>
            <a:ext cx="1902045" cy="623871"/>
          </a:xfrm>
          <a:prstGeom prst="rect">
            <a:avLst/>
          </a:prstGeom>
        </p:spPr>
      </p:pic>
      <p:sp>
        <p:nvSpPr>
          <p:cNvPr id="24" name="TextBox 23">
            <a:extLst>
              <a:ext uri="{FF2B5EF4-FFF2-40B4-BE49-F238E27FC236}">
                <a16:creationId xmlns:a16="http://schemas.microsoft.com/office/drawing/2014/main" id="{FF9ACC7F-413C-9033-AB59-086004AC758A}"/>
              </a:ext>
            </a:extLst>
          </p:cNvPr>
          <p:cNvSpPr txBox="1"/>
          <p:nvPr/>
        </p:nvSpPr>
        <p:spPr>
          <a:xfrm>
            <a:off x="720872" y="966907"/>
            <a:ext cx="10890460" cy="5262979"/>
          </a:xfrm>
          <a:prstGeom prst="rect">
            <a:avLst/>
          </a:prstGeom>
          <a:noFill/>
        </p:spPr>
        <p:txBody>
          <a:bodyPr wrap="square">
            <a:spAutoFit/>
          </a:bodyPr>
          <a:lstStyle/>
          <a:p>
            <a:pPr marL="342900" lvl="0" indent="-342900">
              <a:buFont typeface="Arial" panose="020B0604020202020204" pitchFamily="34" charset="0"/>
              <a:buChar char="•"/>
            </a:pPr>
            <a:r>
              <a:rPr lang="en-IN" sz="2400" dirty="0"/>
              <a:t>Systems like sales dashboards, banking platforms, hospital records, and e-commerce apps all depend on data — but most pipelines only move data from one place to another without checking its quality.</a:t>
            </a:r>
          </a:p>
          <a:p>
            <a:pPr marL="342900" lvl="0" indent="-342900">
              <a:buFont typeface="Arial" panose="020B0604020202020204" pitchFamily="34" charset="0"/>
              <a:buChar char="•"/>
            </a:pPr>
            <a:r>
              <a:rPr lang="en-IN" sz="2400" dirty="0"/>
              <a:t>No one typically verifies: Is the data complete? Are required columns present? Are values correctly formatted? Are there duplicates? Are dates valid?</a:t>
            </a:r>
          </a:p>
          <a:p>
            <a:pPr marL="342900" lvl="0" indent="-342900">
              <a:buFont typeface="Arial" panose="020B0604020202020204" pitchFamily="34" charset="0"/>
              <a:buChar char="•"/>
            </a:pPr>
            <a:r>
              <a:rPr lang="en-IN" sz="2400" b="1" dirty="0"/>
              <a:t>Sentinel</a:t>
            </a:r>
            <a:r>
              <a:rPr lang="en-IN" sz="2400" dirty="0"/>
              <a:t> is a data reliability platform that checks whether data can be trusted before anyone uses it.</a:t>
            </a:r>
          </a:p>
          <a:p>
            <a:pPr marL="342900" lvl="0" indent="-342900">
              <a:buFont typeface="Arial" panose="020B0604020202020204" pitchFamily="34" charset="0"/>
              <a:buChar char="•"/>
            </a:pPr>
            <a:r>
              <a:rPr lang="en-IN" sz="2400" dirty="0"/>
              <a:t>It validates uploaded datasets (CSV/JSON) against declarative </a:t>
            </a:r>
            <a:r>
              <a:rPr lang="en-IN" sz="2400" b="1" dirty="0"/>
              <a:t>data contracts</a:t>
            </a:r>
            <a:r>
              <a:rPr lang="en-IN" sz="2400" dirty="0"/>
              <a:t> — rules like "must not be empty," "must be positive," "must be a valid date," or "must be one of a fixed set of values."</a:t>
            </a:r>
          </a:p>
          <a:p>
            <a:pPr marL="342900" lvl="0" indent="-342900">
              <a:buFont typeface="Arial" panose="020B0604020202020204" pitchFamily="34" charset="0"/>
              <a:buChar char="•"/>
            </a:pPr>
            <a:r>
              <a:rPr lang="en-IN" sz="2400" dirty="0"/>
              <a:t>Valid records and invalid records are stored separately, with a clear, human-readable reason for every failure.</a:t>
            </a:r>
          </a:p>
          <a:p>
            <a:pPr marL="342900" lvl="0" indent="-342900">
              <a:buFont typeface="Arial" panose="020B0604020202020204" pitchFamily="34" charset="0"/>
              <a:buChar char="•"/>
            </a:pPr>
            <a:r>
              <a:rPr lang="en-IN" sz="2400" dirty="0"/>
              <a:t>All of this is exposed through a documented REST API, along with a dataset health score and validation reports.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23913A-A835-DA67-7875-5A45666A6B1F}"/>
              </a:ext>
            </a:extLst>
          </p:cNvPr>
          <p:cNvSpPr txBox="1"/>
          <p:nvPr/>
        </p:nvSpPr>
        <p:spPr>
          <a:xfrm>
            <a:off x="752355" y="1287468"/>
            <a:ext cx="10046824" cy="4893647"/>
          </a:xfrm>
          <a:prstGeom prst="rect">
            <a:avLst/>
          </a:prstGeom>
          <a:noFill/>
        </p:spPr>
        <p:txBody>
          <a:bodyPr wrap="square">
            <a:spAutoFit/>
          </a:bodyPr>
          <a:lstStyle/>
          <a:p>
            <a:pPr lvl="0" rtl="0"/>
            <a:r>
              <a:rPr lang="en-IN" sz="2400" dirty="0"/>
              <a:t>Sentinel is a data reliability platform built to validate datasets before they are used in dashboards, applications, or analytics. Users upload a dataset and define a data contract — a set of column-level rules describing what "good" data looks like. The validation engine checks every row against the contract, separating valid rows from invalid ones and recording the exact reason each invalid row failed (e.g., missing field, wrong type, duplicate value). The platform reports a data health score summarizing total rows, valid rows, invalid rows, and the most common errors. Built with </a:t>
            </a:r>
            <a:r>
              <a:rPr lang="en-IN" sz="2400" dirty="0" err="1"/>
              <a:t>FastAPI</a:t>
            </a:r>
            <a:r>
              <a:rPr lang="en-IN" sz="2400" dirty="0"/>
              <a:t>, PostgreSQL, and a pluggable rule engine (six core rule types: not-null, positive, in-set, valid-date, unique, regex), the system is containerized with Docker, tested with </a:t>
            </a:r>
            <a:r>
              <a:rPr lang="en-IN" sz="2400" dirty="0" err="1"/>
              <a:t>pytest</a:t>
            </a:r>
            <a:r>
              <a:rPr lang="en-IN" sz="2400" dirty="0"/>
              <a:t>, and deployed via CI/CD to a free-tier cloud host. This phase establishes the backend engineering, database design, REST API, and testing foundation for the platform.</a:t>
            </a:r>
          </a:p>
        </p:txBody>
      </p:sp>
      <p:sp>
        <p:nvSpPr>
          <p:cNvPr id="5" name="TextBox 4">
            <a:extLst>
              <a:ext uri="{FF2B5EF4-FFF2-40B4-BE49-F238E27FC236}">
                <a16:creationId xmlns:a16="http://schemas.microsoft.com/office/drawing/2014/main" id="{5DD9DA1D-E499-BDB3-1C76-931C9FE51C77}"/>
              </a:ext>
            </a:extLst>
          </p:cNvPr>
          <p:cNvSpPr txBox="1"/>
          <p:nvPr/>
        </p:nvSpPr>
        <p:spPr>
          <a:xfrm>
            <a:off x="752355" y="487193"/>
            <a:ext cx="6094070" cy="584775"/>
          </a:xfrm>
          <a:prstGeom prst="rect">
            <a:avLst/>
          </a:prstGeom>
          <a:noFill/>
        </p:spPr>
        <p:txBody>
          <a:bodyPr wrap="square">
            <a:spAutoFit/>
          </a:bodyPr>
          <a:lstStyle/>
          <a:p>
            <a:pPr rtl="0">
              <a:buNone/>
            </a:pPr>
            <a:r>
              <a:rPr lang="en-IN" sz="3200" b="1" dirty="0">
                <a:latin typeface="Cambria" panose="02040503050406030204" pitchFamily="18" charset="0"/>
                <a:ea typeface="Cambria" panose="02040503050406030204" pitchFamily="18" charset="0"/>
              </a:rPr>
              <a:t>Abstract</a:t>
            </a:r>
            <a:endParaRPr lang="en-IN" sz="3200" dirty="0">
              <a:latin typeface="Cambria" panose="02040503050406030204" pitchFamily="18" charset="0"/>
              <a:ea typeface="Cambria" panose="02040503050406030204" pitchFamily="18" charset="0"/>
            </a:endParaRPr>
          </a:p>
        </p:txBody>
      </p:sp>
      <p:pic>
        <p:nvPicPr>
          <p:cNvPr id="9" name="Picture 8">
            <a:extLst>
              <a:ext uri="{FF2B5EF4-FFF2-40B4-BE49-F238E27FC236}">
                <a16:creationId xmlns:a16="http://schemas.microsoft.com/office/drawing/2014/main" id="{A563264D-8E10-88A1-5BAC-7B4591B9CCD3}"/>
              </a:ext>
            </a:extLst>
          </p:cNvPr>
          <p:cNvPicPr>
            <a:picLocks noChangeAspect="1"/>
          </p:cNvPicPr>
          <p:nvPr/>
        </p:nvPicPr>
        <p:blipFill>
          <a:blip r:embed="rId2"/>
          <a:stretch>
            <a:fillRect/>
          </a:stretch>
        </p:blipFill>
        <p:spPr>
          <a:xfrm>
            <a:off x="9906000" y="43939"/>
            <a:ext cx="2286000" cy="752475"/>
          </a:xfrm>
          <a:prstGeom prst="rect">
            <a:avLst/>
          </a:prstGeom>
        </p:spPr>
      </p:pic>
    </p:spTree>
    <p:extLst>
      <p:ext uri="{BB962C8B-B14F-4D97-AF65-F5344CB8AC3E}">
        <p14:creationId xmlns:p14="http://schemas.microsoft.com/office/powerpoint/2010/main" val="1527932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2140</TotalTime>
  <Words>418</Words>
  <Application>Microsoft Office PowerPoint</Application>
  <PresentationFormat>Widescreen</PresentationFormat>
  <Paragraphs>25</Paragraphs>
  <Slides>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Cambria</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Lavanya K</cp:lastModifiedBy>
  <cp:revision>2</cp:revision>
  <dcterms:created xsi:type="dcterms:W3CDTF">2026-08-14T05:00:17Z</dcterms:created>
  <dcterms:modified xsi:type="dcterms:W3CDTF">2026-08-15T16:41:06Z</dcterms:modified>
</cp:coreProperties>
</file>