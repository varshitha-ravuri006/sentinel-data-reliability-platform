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9" r:id="rId4"/>
    <p:sldId id="261" r:id="rId5"/>
    <p:sldId id="262" r:id="rId6"/>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microsoft.com/office/2016/11/relationships/changesInfo" Target="changesInfos/changesInfo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rshitha ravuri" userId="fbc461a92fd73b06" providerId="LiveId" clId="{BA2C0348-5EBC-4A53-BFBC-3FDEE565B179}"/>
    <pc:docChg chg="delSld">
      <pc:chgData name="varshitha ravuri" userId="fbc461a92fd73b06" providerId="LiveId" clId="{BA2C0348-5EBC-4A53-BFBC-3FDEE565B179}" dt="2026-09-01T08:55:42.334" v="0" actId="2696"/>
      <pc:docMkLst>
        <pc:docMk/>
      </pc:docMkLst>
      <pc:sldChg chg="del">
        <pc:chgData name="varshitha ravuri" userId="fbc461a92fd73b06" providerId="LiveId" clId="{BA2C0348-5EBC-4A53-BFBC-3FDEE565B179}" dt="2026-09-01T08:55:42.334" v="0" actId="2696"/>
        <pc:sldMkLst>
          <pc:docMk/>
          <pc:sldMk cId="0" sldId="26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368827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3048" y="1866"/>
            <a:ext cx="12188952" cy="822960"/>
          </a:xfrm>
          <a:prstGeom prst="rect">
            <a:avLst/>
          </a:prstGeom>
          <a:noFill/>
          <a:ln/>
        </p:spPr>
        <p:txBody>
          <a:bodyPr wrap="square" rtlCol="0" anchor="ctr"/>
          <a:lstStyle/>
          <a:p>
            <a:pPr marL="0" indent="0" algn="ctr">
              <a:buNone/>
            </a:pPr>
            <a:r>
              <a:rPr lang="en-US" sz="2400" b="1" dirty="0">
                <a:solidFill>
                  <a:srgbClr val="C1272D"/>
                </a:solidFill>
                <a:latin typeface="Cambria" pitchFamily="34" charset="0"/>
                <a:ea typeface="Cambria" pitchFamily="34" charset="-122"/>
                <a:cs typeface="Cambria" pitchFamily="34" charset="-120"/>
              </a:rPr>
              <a:t>Project Review -1</a:t>
            </a:r>
            <a:endParaRPr lang="en-US" sz="2400" dirty="0"/>
          </a:p>
        </p:txBody>
      </p:sp>
      <p:sp>
        <p:nvSpPr>
          <p:cNvPr id="4" name="Text 2"/>
          <p:cNvSpPr/>
          <p:nvPr/>
        </p:nvSpPr>
        <p:spPr>
          <a:xfrm>
            <a:off x="83976" y="1562737"/>
            <a:ext cx="12188952" cy="365760"/>
          </a:xfrm>
          <a:prstGeom prst="rect">
            <a:avLst/>
          </a:prstGeom>
          <a:noFill/>
          <a:ln/>
        </p:spPr>
        <p:txBody>
          <a:bodyPr wrap="square" rtlCol="0" anchor="ctr"/>
          <a:lstStyle/>
          <a:p>
            <a:pPr marL="0" indent="0" algn="ctr">
              <a:buNone/>
            </a:pPr>
            <a:endParaRPr lang="en-US" sz="1800" dirty="0"/>
          </a:p>
        </p:txBody>
      </p:sp>
      <p:sp>
        <p:nvSpPr>
          <p:cNvPr id="5" name="Text 3"/>
          <p:cNvSpPr/>
          <p:nvPr/>
        </p:nvSpPr>
        <p:spPr>
          <a:xfrm>
            <a:off x="914400" y="769962"/>
            <a:ext cx="10360152" cy="914400"/>
          </a:xfrm>
          <a:prstGeom prst="rect">
            <a:avLst/>
          </a:prstGeom>
          <a:noFill/>
          <a:ln/>
        </p:spPr>
        <p:txBody>
          <a:bodyPr wrap="square" rtlCol="0" anchor="ctr"/>
          <a:lstStyle/>
          <a:p>
            <a:pPr marL="0" indent="0" algn="ctr">
              <a:buNone/>
            </a:pPr>
            <a:r>
              <a:rPr lang="en-US" sz="3000" dirty="0">
                <a:solidFill>
                  <a:srgbClr val="1C2333"/>
                </a:solidFill>
                <a:latin typeface="Cambria" pitchFamily="34" charset="0"/>
                <a:ea typeface="Cambria" pitchFamily="34" charset="-122"/>
                <a:cs typeface="Cambria" pitchFamily="34" charset="-120"/>
              </a:rPr>
              <a:t>Sentinel: Data Reliability Platform</a:t>
            </a:r>
            <a:endParaRPr lang="en-US" sz="3000" dirty="0"/>
          </a:p>
        </p:txBody>
      </p:sp>
      <p:sp>
        <p:nvSpPr>
          <p:cNvPr id="6" name="Text 4"/>
          <p:cNvSpPr/>
          <p:nvPr/>
        </p:nvSpPr>
        <p:spPr>
          <a:xfrm>
            <a:off x="-13716" y="1812378"/>
            <a:ext cx="12188952" cy="274320"/>
          </a:xfrm>
          <a:prstGeom prst="rect">
            <a:avLst/>
          </a:prstGeom>
          <a:noFill/>
          <a:ln/>
        </p:spPr>
        <p:txBody>
          <a:bodyPr wrap="square" rtlCol="0" anchor="ctr"/>
          <a:lstStyle/>
          <a:p>
            <a:pPr marL="0" indent="0" algn="ctr">
              <a:buNone/>
            </a:pPr>
            <a:r>
              <a:rPr lang="en-US" sz="2000" b="1" dirty="0">
                <a:solidFill>
                  <a:srgbClr val="1CADE4"/>
                </a:solidFill>
                <a:latin typeface="Calibri" pitchFamily="34" charset="0"/>
                <a:ea typeface="Calibri" pitchFamily="34" charset="-122"/>
                <a:cs typeface="Calibri" pitchFamily="34" charset="-120"/>
              </a:rPr>
              <a:t>By</a:t>
            </a:r>
            <a:endParaRPr lang="en-US" sz="2000" dirty="0"/>
          </a:p>
        </p:txBody>
      </p:sp>
      <p:graphicFrame>
        <p:nvGraphicFramePr>
          <p:cNvPr id="7" name="Table 0"/>
          <p:cNvGraphicFramePr>
            <a:graphicFrameLocks noGrp="1"/>
          </p:cNvGraphicFramePr>
          <p:nvPr>
            <p:extLst>
              <p:ext uri="{D42A27DB-BD31-4B8C-83A1-F6EECF244321}">
                <p14:modId xmlns:p14="http://schemas.microsoft.com/office/powerpoint/2010/main" val="1887897527"/>
              </p:ext>
            </p:extLst>
          </p:nvPr>
        </p:nvGraphicFramePr>
        <p:xfrm>
          <a:off x="3500845" y="2190330"/>
          <a:ext cx="4114800" cy="670560"/>
        </p:xfrm>
        <a:graphic>
          <a:graphicData uri="http://schemas.openxmlformats.org/drawingml/2006/table">
            <a:tbl>
              <a:tblPr/>
              <a:tblGrid>
                <a:gridCol w="256032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tblGrid>
              <a:tr h="256032">
                <a:tc>
                  <a:txBody>
                    <a:bodyPr/>
                    <a:lstStyle/>
                    <a:p>
                      <a:pPr marL="0" indent="0" algn="r">
                        <a:buNone/>
                      </a:pPr>
                      <a:r>
                        <a:rPr lang="en-US" sz="1600" dirty="0">
                          <a:solidFill>
                            <a:srgbClr val="1C2333"/>
                          </a:solidFill>
                          <a:latin typeface="Calibri" pitchFamily="34" charset="0"/>
                          <a:ea typeface="Calibri" pitchFamily="34" charset="-122"/>
                          <a:cs typeface="Calibri" pitchFamily="34" charset="-120"/>
                        </a:rPr>
                        <a:t>R VARSHITHA</a:t>
                      </a:r>
                      <a:endParaRPr lang="en-US" sz="16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tcPr>
                </a:tc>
                <a:tc>
                  <a:txBody>
                    <a:bodyPr/>
                    <a:lstStyle/>
                    <a:p>
                      <a:pPr marL="0" indent="0" algn="l">
                        <a:buNone/>
                      </a:pPr>
                      <a:r>
                        <a:rPr lang="en-US" sz="1600" dirty="0">
                          <a:solidFill>
                            <a:srgbClr val="1C2333"/>
                          </a:solidFill>
                          <a:latin typeface="Calibri" pitchFamily="34" charset="0"/>
                          <a:ea typeface="Calibri" pitchFamily="34" charset="-122"/>
                          <a:cs typeface="Calibri" pitchFamily="34" charset="-120"/>
                        </a:rPr>
                        <a:t>2420030536</a:t>
                      </a:r>
                      <a:endParaRPr lang="en-US" sz="16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1"/>
                  </a:ext>
                </a:extLst>
              </a:tr>
              <a:tr h="256032">
                <a:tc>
                  <a:txBody>
                    <a:bodyPr/>
                    <a:lstStyle/>
                    <a:p>
                      <a:pPr marL="0" indent="0" algn="r">
                        <a:buNone/>
                      </a:pPr>
                      <a:r>
                        <a:rPr lang="en-US" sz="1600" dirty="0">
                          <a:solidFill>
                            <a:srgbClr val="1C2333"/>
                          </a:solidFill>
                          <a:latin typeface="Calibri" pitchFamily="34" charset="0"/>
                          <a:ea typeface="Calibri" pitchFamily="34" charset="-122"/>
                          <a:cs typeface="Calibri" pitchFamily="34" charset="-120"/>
                        </a:rPr>
                        <a:t>K LAVANYA</a:t>
                      </a:r>
                      <a:endParaRPr lang="en-US" sz="16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rgbClr val="1C2333"/>
                          </a:solidFill>
                          <a:latin typeface="Calibri" pitchFamily="34" charset="0"/>
                          <a:ea typeface="Calibri" pitchFamily="34" charset="-122"/>
                          <a:cs typeface="Calibri" pitchFamily="34" charset="-120"/>
                        </a:rPr>
                        <a:t>2420030649</a:t>
                      </a:r>
                      <a:endParaRPr lang="en-US" sz="16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2"/>
                  </a:ext>
                </a:extLst>
              </a:tr>
            </a:tbl>
          </a:graphicData>
        </a:graphic>
      </p:graphicFrame>
      <p:sp>
        <p:nvSpPr>
          <p:cNvPr id="8" name="Text 5"/>
          <p:cNvSpPr/>
          <p:nvPr/>
        </p:nvSpPr>
        <p:spPr>
          <a:xfrm>
            <a:off x="-13716" y="3032169"/>
            <a:ext cx="12188952" cy="320040"/>
          </a:xfrm>
          <a:prstGeom prst="rect">
            <a:avLst/>
          </a:prstGeom>
          <a:noFill/>
          <a:ln/>
        </p:spPr>
        <p:txBody>
          <a:bodyPr wrap="square" rtlCol="0" anchor="ctr"/>
          <a:lstStyle/>
          <a:p>
            <a:pPr marL="0" indent="0" algn="ctr">
              <a:buNone/>
            </a:pPr>
            <a:r>
              <a:rPr lang="en-US" sz="2400" b="1" dirty="0">
                <a:solidFill>
                  <a:srgbClr val="1CADE4"/>
                </a:solidFill>
                <a:latin typeface="Calibri" pitchFamily="34" charset="0"/>
                <a:ea typeface="Calibri" pitchFamily="34" charset="-122"/>
                <a:cs typeface="Calibri" pitchFamily="34" charset="-120"/>
              </a:rPr>
              <a:t>Team Number: 26</a:t>
            </a:r>
            <a:endParaRPr lang="en-US" sz="2400" dirty="0"/>
          </a:p>
        </p:txBody>
      </p:sp>
      <p:sp>
        <p:nvSpPr>
          <p:cNvPr id="9" name="Text 6"/>
          <p:cNvSpPr/>
          <p:nvPr/>
        </p:nvSpPr>
        <p:spPr>
          <a:xfrm>
            <a:off x="-33282" y="4038009"/>
            <a:ext cx="12188952" cy="274320"/>
          </a:xfrm>
          <a:prstGeom prst="rect">
            <a:avLst/>
          </a:prstGeom>
          <a:noFill/>
          <a:ln/>
        </p:spPr>
        <p:txBody>
          <a:bodyPr wrap="square" rtlCol="0" anchor="ctr"/>
          <a:lstStyle/>
          <a:p>
            <a:pPr marL="0" indent="0" algn="ctr">
              <a:buNone/>
            </a:pPr>
            <a:r>
              <a:rPr lang="en-US" b="1" i="1" dirty="0">
                <a:solidFill>
                  <a:srgbClr val="C1272D"/>
                </a:solidFill>
                <a:latin typeface="Calibri" pitchFamily="34" charset="0"/>
                <a:ea typeface="Calibri" pitchFamily="34" charset="-122"/>
                <a:cs typeface="Calibri" pitchFamily="34" charset="-120"/>
              </a:rPr>
              <a:t>Under the guidance of</a:t>
            </a:r>
            <a:endParaRPr lang="en-US" dirty="0"/>
          </a:p>
        </p:txBody>
      </p:sp>
      <p:sp>
        <p:nvSpPr>
          <p:cNvPr id="10" name="Text 7"/>
          <p:cNvSpPr/>
          <p:nvPr/>
        </p:nvSpPr>
        <p:spPr>
          <a:xfrm>
            <a:off x="-13716" y="4405822"/>
            <a:ext cx="12188952" cy="502920"/>
          </a:xfrm>
          <a:prstGeom prst="rect">
            <a:avLst/>
          </a:prstGeom>
          <a:noFill/>
          <a:ln/>
        </p:spPr>
        <p:txBody>
          <a:bodyPr wrap="square" rtlCol="0" anchor="ctr"/>
          <a:lstStyle/>
          <a:p>
            <a:pPr marL="0" indent="0" algn="ctr">
              <a:buNone/>
            </a:pPr>
            <a:r>
              <a:rPr lang="en-US" b="1" dirty="0">
                <a:solidFill>
                  <a:srgbClr val="1CADE4"/>
                </a:solidFill>
                <a:latin typeface="Calibri" pitchFamily="34" charset="0"/>
                <a:ea typeface="Calibri" pitchFamily="34" charset="-122"/>
                <a:cs typeface="Calibri" pitchFamily="34" charset="-120"/>
              </a:rPr>
              <a:t>Dr. N. SIRISHA</a:t>
            </a:r>
          </a:p>
          <a:p>
            <a:pPr marL="0" indent="0" algn="ctr">
              <a:buNone/>
            </a:pPr>
            <a:r>
              <a:rPr lang="en-US" b="1" dirty="0">
                <a:solidFill>
                  <a:srgbClr val="1CADE4"/>
                </a:solidFill>
                <a:latin typeface="Calibri" pitchFamily="34" charset="0"/>
                <a:ea typeface="Calibri" pitchFamily="34" charset="-122"/>
                <a:cs typeface="Calibri" pitchFamily="34" charset="-120"/>
              </a:rPr>
              <a:t>ASSOCIATE PROFESSOR</a:t>
            </a:r>
            <a:endParaRPr lang="en-US" dirty="0"/>
          </a:p>
        </p:txBody>
      </p:sp>
      <p:sp>
        <p:nvSpPr>
          <p:cNvPr id="11" name="Text 8"/>
          <p:cNvSpPr/>
          <p:nvPr/>
        </p:nvSpPr>
        <p:spPr>
          <a:xfrm>
            <a:off x="83976" y="5302127"/>
            <a:ext cx="12188952" cy="320040"/>
          </a:xfrm>
          <a:prstGeom prst="rect">
            <a:avLst/>
          </a:prstGeom>
          <a:noFill/>
          <a:ln/>
        </p:spPr>
        <p:txBody>
          <a:bodyPr wrap="square" rtlCol="0" anchor="ctr"/>
          <a:lstStyle/>
          <a:p>
            <a:pPr marL="0" indent="0" algn="ctr">
              <a:buNone/>
            </a:pPr>
            <a:r>
              <a:rPr lang="en-US" sz="1600" b="1" dirty="0">
                <a:solidFill>
                  <a:srgbClr val="1F6FD1"/>
                </a:solidFill>
                <a:latin typeface="Calibri" pitchFamily="34" charset="0"/>
                <a:ea typeface="Calibri" pitchFamily="34" charset="-122"/>
                <a:cs typeface="Calibri" pitchFamily="34" charset="-120"/>
              </a:rPr>
              <a:t>Department of Computer Science and Engineering</a:t>
            </a:r>
            <a:endParaRPr lang="en-US" sz="1600" dirty="0"/>
          </a:p>
        </p:txBody>
      </p:sp>
      <p:pic>
        <p:nvPicPr>
          <p:cNvPr id="12" name="Image 0" descr="klh_logo.png"/>
          <p:cNvPicPr>
            <a:picLocks noChangeAspect="1"/>
          </p:cNvPicPr>
          <p:nvPr/>
        </p:nvPicPr>
        <p:blipFill>
          <a:blip r:embed="rId3"/>
          <a:stretch>
            <a:fillRect/>
          </a:stretch>
        </p:blipFill>
        <p:spPr>
          <a:xfrm>
            <a:off x="3048" y="126834"/>
            <a:ext cx="2286000" cy="749808"/>
          </a:xfrm>
          <a:prstGeom prst="rect">
            <a:avLst/>
          </a:prstGeom>
        </p:spPr>
      </p:pic>
      <p:sp>
        <p:nvSpPr>
          <p:cNvPr id="13" name="Text 9"/>
          <p:cNvSpPr/>
          <p:nvPr/>
        </p:nvSpPr>
        <p:spPr>
          <a:xfrm>
            <a:off x="83976" y="6555241"/>
            <a:ext cx="12188952" cy="292608"/>
          </a:xfrm>
          <a:prstGeom prst="rect">
            <a:avLst/>
          </a:prstGeom>
          <a:noFill/>
          <a:ln/>
        </p:spPr>
        <p:txBody>
          <a:bodyPr wrap="square" rtlCol="0" anchor="ctr"/>
          <a:lstStyle/>
          <a:p>
            <a:pPr marL="0" indent="0" algn="ctr">
              <a:buNone/>
            </a:pPr>
            <a:r>
              <a:rPr lang="en-US" sz="1500" b="1" dirty="0">
                <a:solidFill>
                  <a:srgbClr val="1C2333"/>
                </a:solidFill>
                <a:latin typeface="Cambria" pitchFamily="34" charset="0"/>
                <a:ea typeface="Cambria" pitchFamily="34" charset="-122"/>
                <a:cs typeface="Cambria" pitchFamily="34" charset="-120"/>
              </a:rPr>
              <a:t>Koneru Lakshmaiah Education Foundation</a:t>
            </a:r>
            <a:endParaRPr lang="en-US" sz="1500" dirty="0"/>
          </a:p>
        </p:txBody>
      </p:sp>
      <p:pic>
        <p:nvPicPr>
          <p:cNvPr id="15" name="Image 0" descr="klh_logo.png">
            <a:extLst>
              <a:ext uri="{FF2B5EF4-FFF2-40B4-BE49-F238E27FC236}">
                <a16:creationId xmlns:a16="http://schemas.microsoft.com/office/drawing/2014/main" id="{424B73FB-E1AD-E3A1-633F-C032215E6153}"/>
              </a:ext>
            </a:extLst>
          </p:cNvPr>
          <p:cNvPicPr>
            <a:picLocks noChangeAspect="1"/>
          </p:cNvPicPr>
          <p:nvPr/>
        </p:nvPicPr>
        <p:blipFill>
          <a:blip r:embed="rId3"/>
          <a:stretch>
            <a:fillRect/>
          </a:stretch>
        </p:blipFill>
        <p:spPr>
          <a:xfrm>
            <a:off x="4848746" y="5788152"/>
            <a:ext cx="2286000" cy="74980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720872" y="-122405"/>
            <a:ext cx="9144000" cy="1188720"/>
          </a:xfrm>
          <a:prstGeom prst="rect">
            <a:avLst/>
          </a:prstGeom>
          <a:noFill/>
          <a:ln/>
        </p:spPr>
        <p:txBody>
          <a:bodyPr wrap="square" rtlCol="0" anchor="ctr"/>
          <a:lstStyle/>
          <a:p>
            <a:pPr marL="0" indent="0">
              <a:buNone/>
            </a:pPr>
            <a:r>
              <a:rPr lang="en-US" sz="3200" b="1" dirty="0">
                <a:latin typeface="Cambria" pitchFamily="34" charset="0"/>
                <a:ea typeface="Cambria" pitchFamily="34" charset="-122"/>
                <a:cs typeface="Cambria" pitchFamily="34" charset="-120"/>
              </a:rPr>
              <a:t>Introduction</a:t>
            </a:r>
            <a:endParaRPr lang="en-US" sz="3200" dirty="0"/>
          </a:p>
        </p:txBody>
      </p:sp>
      <p:sp>
        <p:nvSpPr>
          <p:cNvPr id="4" name="Text 2"/>
          <p:cNvSpPr/>
          <p:nvPr/>
        </p:nvSpPr>
        <p:spPr>
          <a:xfrm>
            <a:off x="580668" y="6279178"/>
            <a:ext cx="11360642" cy="640080"/>
          </a:xfrm>
          <a:prstGeom prst="rect">
            <a:avLst/>
          </a:prstGeom>
          <a:noFill/>
          <a:ln/>
        </p:spPr>
        <p:txBody>
          <a:bodyPr wrap="square" rtlCol="0" anchor="ctr"/>
          <a:lstStyle/>
          <a:p>
            <a:pPr marL="0" indent="0">
              <a:buNone/>
            </a:pPr>
            <a:r>
              <a:rPr lang="en-US" sz="1600" i="1" dirty="0">
                <a:solidFill>
                  <a:srgbClr val="5B6478"/>
                </a:solidFill>
                <a:latin typeface="Calibri" pitchFamily="34" charset="0"/>
                <a:ea typeface="Calibri" pitchFamily="34" charset="-122"/>
                <a:cs typeface="Calibri" pitchFamily="34" charset="-120"/>
              </a:rPr>
              <a:t>Sentinel checks whether data can be trusted before anyone uses it — and later, whether AI systems can be trusted with what they log.</a:t>
            </a:r>
            <a:endParaRPr lang="en-US" sz="1600" dirty="0"/>
          </a:p>
        </p:txBody>
      </p:sp>
      <p:pic>
        <p:nvPicPr>
          <p:cNvPr id="21" name="Image 0" descr="klh_logo.png">
            <a:extLst>
              <a:ext uri="{FF2B5EF4-FFF2-40B4-BE49-F238E27FC236}">
                <a16:creationId xmlns:a16="http://schemas.microsoft.com/office/drawing/2014/main" id="{818D94E6-D6DF-ECD3-60A4-3FE0A3FBB180}"/>
              </a:ext>
            </a:extLst>
          </p:cNvPr>
          <p:cNvPicPr>
            <a:picLocks noChangeAspect="1"/>
          </p:cNvPicPr>
          <p:nvPr/>
        </p:nvPicPr>
        <p:blipFill>
          <a:blip r:embed="rId3"/>
          <a:stretch>
            <a:fillRect/>
          </a:stretch>
        </p:blipFill>
        <p:spPr>
          <a:xfrm>
            <a:off x="10039265" y="160020"/>
            <a:ext cx="1902045" cy="623871"/>
          </a:xfrm>
          <a:prstGeom prst="rect">
            <a:avLst/>
          </a:prstGeom>
        </p:spPr>
      </p:pic>
      <p:sp>
        <p:nvSpPr>
          <p:cNvPr id="24" name="TextBox 23">
            <a:extLst>
              <a:ext uri="{FF2B5EF4-FFF2-40B4-BE49-F238E27FC236}">
                <a16:creationId xmlns:a16="http://schemas.microsoft.com/office/drawing/2014/main" id="{FF9ACC7F-413C-9033-AB59-086004AC758A}"/>
              </a:ext>
            </a:extLst>
          </p:cNvPr>
          <p:cNvSpPr txBox="1"/>
          <p:nvPr/>
        </p:nvSpPr>
        <p:spPr>
          <a:xfrm>
            <a:off x="720872" y="966907"/>
            <a:ext cx="10890460" cy="5262979"/>
          </a:xfrm>
          <a:prstGeom prst="rect">
            <a:avLst/>
          </a:prstGeom>
          <a:noFill/>
        </p:spPr>
        <p:txBody>
          <a:bodyPr wrap="square">
            <a:spAutoFit/>
          </a:bodyPr>
          <a:lstStyle/>
          <a:p>
            <a:pPr marL="342900" lvl="0" indent="-342900">
              <a:buFont typeface="Arial" panose="020B0604020202020204" pitchFamily="34" charset="0"/>
              <a:buChar char="•"/>
            </a:pPr>
            <a:r>
              <a:rPr lang="en-IN" sz="2400" dirty="0"/>
              <a:t>Systems like sales dashboards, banking platforms, hospital records, and e-commerce apps all depend on data — but most pipelines only move data from one place to another without checking its quality.</a:t>
            </a:r>
          </a:p>
          <a:p>
            <a:pPr marL="342900" lvl="0" indent="-342900">
              <a:buFont typeface="Arial" panose="020B0604020202020204" pitchFamily="34" charset="0"/>
              <a:buChar char="•"/>
            </a:pPr>
            <a:r>
              <a:rPr lang="en-IN" sz="2400" dirty="0"/>
              <a:t>No one typically verifies: Is the data complete? Are required columns present? Are values correctly formatted? Are there duplicates? Are dates valid?</a:t>
            </a:r>
          </a:p>
          <a:p>
            <a:pPr marL="342900" lvl="0" indent="-342900">
              <a:buFont typeface="Arial" panose="020B0604020202020204" pitchFamily="34" charset="0"/>
              <a:buChar char="•"/>
            </a:pPr>
            <a:r>
              <a:rPr lang="en-IN" sz="2400" b="1" dirty="0"/>
              <a:t>Sentinel</a:t>
            </a:r>
            <a:r>
              <a:rPr lang="en-IN" sz="2400" dirty="0"/>
              <a:t> is a data reliability platform that checks whether data can be trusted before anyone uses it.</a:t>
            </a:r>
          </a:p>
          <a:p>
            <a:pPr marL="342900" lvl="0" indent="-342900">
              <a:buFont typeface="Arial" panose="020B0604020202020204" pitchFamily="34" charset="0"/>
              <a:buChar char="•"/>
            </a:pPr>
            <a:r>
              <a:rPr lang="en-IN" sz="2400" dirty="0"/>
              <a:t>It validates uploaded datasets (CSV/JSON) against declarative </a:t>
            </a:r>
            <a:r>
              <a:rPr lang="en-IN" sz="2400" b="1" dirty="0"/>
              <a:t>data contracts</a:t>
            </a:r>
            <a:r>
              <a:rPr lang="en-IN" sz="2400" dirty="0"/>
              <a:t> — rules like "must not be empty," "must be positive," "must be a valid date," or "must be one of a fixed set of values."</a:t>
            </a:r>
          </a:p>
          <a:p>
            <a:pPr marL="342900" lvl="0" indent="-342900">
              <a:buFont typeface="Arial" panose="020B0604020202020204" pitchFamily="34" charset="0"/>
              <a:buChar char="•"/>
            </a:pPr>
            <a:r>
              <a:rPr lang="en-IN" sz="2400" dirty="0"/>
              <a:t>Valid records and invalid records are stored separately, with a clear, human-readable reason for every failure.</a:t>
            </a:r>
          </a:p>
          <a:p>
            <a:pPr marL="342900" lvl="0" indent="-342900">
              <a:buFont typeface="Arial" panose="020B0604020202020204" pitchFamily="34" charset="0"/>
              <a:buChar char="•"/>
            </a:pPr>
            <a:r>
              <a:rPr lang="en-IN" sz="2400" dirty="0"/>
              <a:t>All of this is exposed through a documented REST API, along with a dataset health score and validation reports.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F23913A-A835-DA67-7875-5A45666A6B1F}"/>
              </a:ext>
            </a:extLst>
          </p:cNvPr>
          <p:cNvSpPr txBox="1"/>
          <p:nvPr/>
        </p:nvSpPr>
        <p:spPr>
          <a:xfrm>
            <a:off x="752355" y="1287468"/>
            <a:ext cx="10046824" cy="4893647"/>
          </a:xfrm>
          <a:prstGeom prst="rect">
            <a:avLst/>
          </a:prstGeom>
          <a:noFill/>
        </p:spPr>
        <p:txBody>
          <a:bodyPr wrap="square">
            <a:spAutoFit/>
          </a:bodyPr>
          <a:lstStyle/>
          <a:p>
            <a:pPr lvl="0" rtl="0"/>
            <a:r>
              <a:rPr lang="en-IN" sz="2400" dirty="0"/>
              <a:t>Sentinel is a data reliability platform built to validate datasets before they are used in dashboards, applications, or analytics. Users upload a dataset and define a data contract — a set of column-level rules describing what "good" data looks like. The validation engine checks every row against the contract, separating valid rows from invalid ones and recording the exact reason each invalid row failed (e.g., missing field, wrong type, duplicate value). The platform reports a data health score summarizing total rows, valid rows, invalid rows, and the most common errors. Built with </a:t>
            </a:r>
            <a:r>
              <a:rPr lang="en-IN" sz="2400" dirty="0" err="1"/>
              <a:t>FastAPI</a:t>
            </a:r>
            <a:r>
              <a:rPr lang="en-IN" sz="2400" dirty="0"/>
              <a:t>, PostgreSQL, and a pluggable rule engine (six core rule types: not-null, positive, in-set, valid-date, unique, regex), the system is containerized with Docker, tested with </a:t>
            </a:r>
            <a:r>
              <a:rPr lang="en-IN" sz="2400" dirty="0" err="1"/>
              <a:t>pytest</a:t>
            </a:r>
            <a:r>
              <a:rPr lang="en-IN" sz="2400" dirty="0"/>
              <a:t>, and deployed via CI/CD to a free-tier cloud host. This phase establishes the backend engineering, database design, REST API, and testing foundation for the platform.</a:t>
            </a:r>
          </a:p>
        </p:txBody>
      </p:sp>
      <p:sp>
        <p:nvSpPr>
          <p:cNvPr id="5" name="TextBox 4">
            <a:extLst>
              <a:ext uri="{FF2B5EF4-FFF2-40B4-BE49-F238E27FC236}">
                <a16:creationId xmlns:a16="http://schemas.microsoft.com/office/drawing/2014/main" id="{5DD9DA1D-E499-BDB3-1C76-931C9FE51C77}"/>
              </a:ext>
            </a:extLst>
          </p:cNvPr>
          <p:cNvSpPr txBox="1"/>
          <p:nvPr/>
        </p:nvSpPr>
        <p:spPr>
          <a:xfrm>
            <a:off x="752355" y="487193"/>
            <a:ext cx="6094070" cy="584775"/>
          </a:xfrm>
          <a:prstGeom prst="rect">
            <a:avLst/>
          </a:prstGeom>
          <a:noFill/>
        </p:spPr>
        <p:txBody>
          <a:bodyPr wrap="square">
            <a:spAutoFit/>
          </a:bodyPr>
          <a:lstStyle/>
          <a:p>
            <a:pPr rtl="0">
              <a:buNone/>
            </a:pPr>
            <a:r>
              <a:rPr lang="en-IN" sz="3200" b="1" dirty="0">
                <a:latin typeface="Cambria" panose="02040503050406030204" pitchFamily="18" charset="0"/>
                <a:ea typeface="Cambria" panose="02040503050406030204" pitchFamily="18" charset="0"/>
              </a:rPr>
              <a:t>Abstract</a:t>
            </a:r>
            <a:endParaRPr lang="en-IN" sz="3200" dirty="0">
              <a:latin typeface="Cambria" panose="02040503050406030204" pitchFamily="18" charset="0"/>
              <a:ea typeface="Cambria" panose="02040503050406030204" pitchFamily="18" charset="0"/>
            </a:endParaRPr>
          </a:p>
        </p:txBody>
      </p:sp>
      <p:pic>
        <p:nvPicPr>
          <p:cNvPr id="9" name="Picture 8">
            <a:extLst>
              <a:ext uri="{FF2B5EF4-FFF2-40B4-BE49-F238E27FC236}">
                <a16:creationId xmlns:a16="http://schemas.microsoft.com/office/drawing/2014/main" id="{A563264D-8E10-88A1-5BAC-7B4591B9CCD3}"/>
              </a:ext>
            </a:extLst>
          </p:cNvPr>
          <p:cNvPicPr>
            <a:picLocks noChangeAspect="1"/>
          </p:cNvPicPr>
          <p:nvPr/>
        </p:nvPicPr>
        <p:blipFill>
          <a:blip r:embed="rId2"/>
          <a:stretch>
            <a:fillRect/>
          </a:stretch>
        </p:blipFill>
        <p:spPr>
          <a:xfrm>
            <a:off x="9906000" y="43939"/>
            <a:ext cx="2286000" cy="752475"/>
          </a:xfrm>
          <a:prstGeom prst="rect">
            <a:avLst/>
          </a:prstGeom>
        </p:spPr>
      </p:pic>
    </p:spTree>
    <p:extLst>
      <p:ext uri="{BB962C8B-B14F-4D97-AF65-F5344CB8AC3E}">
        <p14:creationId xmlns:p14="http://schemas.microsoft.com/office/powerpoint/2010/main" val="15279327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720872" y="-122405"/>
            <a:ext cx="9144000" cy="1188720"/>
          </a:xfrm>
          <a:prstGeom prst="rect">
            <a:avLst/>
          </a:prstGeom>
          <a:noFill/>
          <a:ln/>
        </p:spPr>
        <p:txBody>
          <a:bodyPr wrap="square" rtlCol="0" anchor="ctr"/>
          <a:lstStyle/>
          <a:p>
            <a:pPr marL="0" indent="0">
              <a:buNone/>
            </a:pPr>
            <a:r>
              <a:rPr lang="en-US" sz="3200" b="1" dirty="0">
                <a:latin typeface="Cambria" pitchFamily="34" charset="0"/>
                <a:ea typeface="Cambria" pitchFamily="34" charset="-122"/>
                <a:cs typeface="Cambria" pitchFamily="34" charset="-120"/>
              </a:rPr>
              <a:t>Literature Survey (2/2)</a:t>
            </a:r>
            <a:endParaRPr lang="en-US" sz="3200" dirty="0"/>
          </a:p>
        </p:txBody>
      </p:sp>
      <p:pic>
        <p:nvPicPr>
          <p:cNvPr id="21" name="Image 0" descr="klh_logo.png">
            <a:extLst>
              <a:ext uri="{FF2B5EF4-FFF2-40B4-BE49-F238E27FC236}">
                <a16:creationId xmlns:a16="http://schemas.microsoft.com/office/drawing/2014/main" id="{818D94E6-D6DF-ECD3-60A4-3FE0A3FBB180}"/>
              </a:ext>
            </a:extLst>
          </p:cNvPr>
          <p:cNvPicPr>
            <a:picLocks noChangeAspect="1"/>
          </p:cNvPicPr>
          <p:nvPr/>
        </p:nvPicPr>
        <p:blipFill>
          <a:blip r:embed="rId2"/>
          <a:stretch>
            <a:fillRect/>
          </a:stretch>
        </p:blipFill>
        <p:spPr>
          <a:xfrm>
            <a:off x="10039265" y="160020"/>
            <a:ext cx="1902045" cy="623871"/>
          </a:xfrm>
          <a:prstGeom prst="rect">
            <a:avLst/>
          </a:prstGeom>
        </p:spPr>
      </p:pic>
      <p:graphicFrame>
        <p:nvGraphicFramePr>
          <p:cNvPr id="40" name="LitTable"/>
          <p:cNvGraphicFramePr/>
          <p:nvPr/>
        </p:nvGraphicFramePr>
        <p:xfrm>
          <a:off x="720872" y="1000000"/>
          <a:ext cx="10890460" cy="5080000"/>
        </p:xfrm>
        <a:graphic>
          <a:graphicData uri="http://schemas.openxmlformats.org/drawingml/2006/table">
            <a:tbl>
              <a:tblPr firstRow="1">
                <a:tableStyleId>{5940675A-B579-460E-94D1-54222C63F5DA}</a:tableStyleId>
              </a:tblPr>
              <a:tblGrid>
                <a:gridCol w="500000">
                  <a:extLst>
                    <a:ext uri="{9D8B030D-6E8A-4147-A177-3AD203B41FA5}">
                      <a16:colId xmlns:a16="http://schemas.microsoft.com/office/drawing/2014/main" val="20000"/>
                    </a:ext>
                  </a:extLst>
                </a:gridCol>
                <a:gridCol w="2350000">
                  <a:extLst>
                    <a:ext uri="{9D8B030D-6E8A-4147-A177-3AD203B41FA5}">
                      <a16:colId xmlns:a16="http://schemas.microsoft.com/office/drawing/2014/main" val="20001"/>
                    </a:ext>
                  </a:extLst>
                </a:gridCol>
                <a:gridCol w="4250000">
                  <a:extLst>
                    <a:ext uri="{9D8B030D-6E8A-4147-A177-3AD203B41FA5}">
                      <a16:colId xmlns:a16="http://schemas.microsoft.com/office/drawing/2014/main" val="20002"/>
                    </a:ext>
                  </a:extLst>
                </a:gridCol>
                <a:gridCol w="3790460">
                  <a:extLst>
                    <a:ext uri="{9D8B030D-6E8A-4147-A177-3AD203B41FA5}">
                      <a16:colId xmlns:a16="http://schemas.microsoft.com/office/drawing/2014/main" val="20003"/>
                    </a:ext>
                  </a:extLst>
                </a:gridCol>
              </a:tblGrid>
              <a:tr h="380000">
                <a:tc>
                  <a:txBody>
                    <a:bodyPr/>
                    <a:lstStyle/>
                    <a:p>
                      <a:pPr algn="ctr"/>
                      <a:r>
                        <a:rPr lang="en-US" sz="1200" b="1" dirty="0">
                          <a:solidFill>
                            <a:srgbClr val="FFFFFF"/>
                          </a:solidFill>
                          <a:latin typeface="Cambria"/>
                        </a:rPr>
                        <a:t>#</a:t>
                      </a:r>
                    </a:p>
                  </a:txBody>
                  <a:tcPr marL="54000" marR="54000" marT="27000" marB="27000" anchor="ctr">
                    <a:solidFill>
                      <a:srgbClr val="8C1D40"/>
                    </a:solidFill>
                  </a:tcPr>
                </a:tc>
                <a:tc>
                  <a:txBody>
                    <a:bodyPr/>
                    <a:lstStyle/>
                    <a:p>
                      <a:pPr algn="ctr"/>
                      <a:r>
                        <a:rPr lang="en-US" sz="1200" b="1" dirty="0">
                          <a:solidFill>
                            <a:srgbClr val="FFFFFF"/>
                          </a:solidFill>
                          <a:latin typeface="Cambria"/>
                        </a:rPr>
                        <a:t>Authors (Year)</a:t>
                      </a:r>
                    </a:p>
                  </a:txBody>
                  <a:tcPr marL="54000" marR="54000" marT="27000" marB="27000" anchor="ctr">
                    <a:solidFill>
                      <a:srgbClr val="8C1D40"/>
                    </a:solidFill>
                  </a:tcPr>
                </a:tc>
                <a:tc>
                  <a:txBody>
                    <a:bodyPr/>
                    <a:lstStyle/>
                    <a:p>
                      <a:pPr algn="ctr"/>
                      <a:r>
                        <a:rPr lang="en-US" sz="1200" b="1" dirty="0">
                          <a:solidFill>
                            <a:srgbClr val="FFFFFF"/>
                          </a:solidFill>
                          <a:latin typeface="Cambria"/>
                        </a:rPr>
                        <a:t>Focus / Contribution</a:t>
                      </a:r>
                    </a:p>
                  </a:txBody>
                  <a:tcPr marL="54000" marR="54000" marT="27000" marB="27000" anchor="ctr">
                    <a:solidFill>
                      <a:srgbClr val="8C1D40"/>
                    </a:solidFill>
                  </a:tcPr>
                </a:tc>
                <a:tc>
                  <a:txBody>
                    <a:bodyPr/>
                    <a:lstStyle/>
                    <a:p>
                      <a:pPr algn="ctr"/>
                      <a:r>
                        <a:rPr lang="en-US" sz="1200" b="1" dirty="0">
                          <a:solidFill>
                            <a:srgbClr val="FFFFFF"/>
                          </a:solidFill>
                          <a:latin typeface="Cambria"/>
                        </a:rPr>
                        <a:t>Relevance to Sentinel</a:t>
                      </a:r>
                    </a:p>
                  </a:txBody>
                  <a:tcPr marL="54000" marR="54000" marT="27000" marB="27000" anchor="ctr">
                    <a:solidFill>
                      <a:srgbClr val="8C1D40"/>
                    </a:solidFill>
                  </a:tcPr>
                </a:tc>
                <a:extLst>
                  <a:ext uri="{0D108BD9-81ED-4DB2-BD59-A6C34878D82A}">
                    <a16:rowId xmlns:a16="http://schemas.microsoft.com/office/drawing/2014/main" val="10000"/>
                  </a:ext>
                </a:extLst>
              </a:tr>
              <a:tr h="940000">
                <a:tc>
                  <a:txBody>
                    <a:bodyPr/>
                    <a:lstStyle/>
                    <a:p>
                      <a:pPr algn="ctr"/>
                      <a:r>
                        <a:rPr lang="en-US" sz="1100" dirty="0">
                          <a:latin typeface="Calibri"/>
                        </a:rPr>
                        <a:t>6</a:t>
                      </a:r>
                    </a:p>
                  </a:txBody>
                  <a:tcPr marL="54000" marR="54000" marT="27000" marB="27000" anchor="ctr"/>
                </a:tc>
                <a:tc>
                  <a:txBody>
                    <a:bodyPr/>
                    <a:lstStyle/>
                    <a:p>
                      <a:r>
                        <a:rPr lang="en-US" sz="1100" dirty="0">
                          <a:latin typeface="Calibri"/>
                        </a:rPr>
                        <a:t>Breck et al. (2019)</a:t>
                      </a:r>
                    </a:p>
                  </a:txBody>
                  <a:tcPr marL="54000" marR="54000" marT="27000" marB="27000" anchor="ctr"/>
                </a:tc>
                <a:tc>
                  <a:txBody>
                    <a:bodyPr/>
                    <a:lstStyle/>
                    <a:p>
                      <a:r>
                        <a:rPr lang="en-US" sz="1100" dirty="0">
                          <a:latin typeface="Calibri"/>
                        </a:rPr>
                        <a:t>Google TFDV — validates data against a schema in ML pipelines and flags anomalies and skew.</a:t>
                      </a:r>
                    </a:p>
                  </a:txBody>
                  <a:tcPr marL="54000" marR="54000" marT="27000" marB="27000" anchor="ctr"/>
                </a:tc>
                <a:tc>
                  <a:txBody>
                    <a:bodyPr/>
                    <a:lstStyle/>
                    <a:p>
                      <a:r>
                        <a:rPr lang="en-US" sz="1100" dirty="0">
                          <a:latin typeface="Calibri"/>
                        </a:rPr>
                        <a:t>Inspiration for data contracts and quarantining bad rows.</a:t>
                      </a:r>
                    </a:p>
                  </a:txBody>
                  <a:tcPr marL="54000" marR="54000" marT="27000" marB="27000" anchor="ctr"/>
                </a:tc>
                <a:extLst>
                  <a:ext uri="{0D108BD9-81ED-4DB2-BD59-A6C34878D82A}">
                    <a16:rowId xmlns:a16="http://schemas.microsoft.com/office/drawing/2014/main" val="10001"/>
                  </a:ext>
                </a:extLst>
              </a:tr>
              <a:tr h="940000">
                <a:tc>
                  <a:txBody>
                    <a:bodyPr/>
                    <a:lstStyle/>
                    <a:p>
                      <a:pPr algn="ctr"/>
                      <a:r>
                        <a:rPr lang="en-US" sz="1100" dirty="0">
                          <a:latin typeface="Calibri"/>
                        </a:rPr>
                        <a:t>7</a:t>
                      </a:r>
                    </a:p>
                  </a:txBody>
                  <a:tcPr marL="54000" marR="54000" marT="27000" marB="27000" anchor="ctr"/>
                </a:tc>
                <a:tc>
                  <a:txBody>
                    <a:bodyPr/>
                    <a:lstStyle/>
                    <a:p>
                      <a:r>
                        <a:rPr lang="en-US" sz="1100" dirty="0">
                          <a:latin typeface="Calibri"/>
                        </a:rPr>
                        <a:t>Hynes et al. (2017)</a:t>
                      </a:r>
                    </a:p>
                  </a:txBody>
                  <a:tcPr marL="54000" marR="54000" marT="27000" marB="27000" anchor="ctr"/>
                </a:tc>
                <a:tc>
                  <a:txBody>
                    <a:bodyPr/>
                    <a:lstStyle/>
                    <a:p>
                      <a:r>
                        <a:rPr lang="en-US" sz="1100" dirty="0">
                          <a:latin typeface="Calibri"/>
                        </a:rPr>
                        <a:t>Data Linter — lightweight automated sanity checks that flag suspicious data before ML use.</a:t>
                      </a:r>
                    </a:p>
                  </a:txBody>
                  <a:tcPr marL="54000" marR="54000" marT="27000" marB="27000" anchor="ctr"/>
                </a:tc>
                <a:tc>
                  <a:txBody>
                    <a:bodyPr/>
                    <a:lstStyle/>
                    <a:p>
                      <a:r>
                        <a:rPr lang="en-US" sz="1100" dirty="0">
                          <a:latin typeface="Calibri"/>
                        </a:rPr>
                        <a:t>Supports fast, automated rule checks before consumption.</a:t>
                      </a:r>
                    </a:p>
                  </a:txBody>
                  <a:tcPr marL="54000" marR="54000" marT="27000" marB="27000" anchor="ctr"/>
                </a:tc>
                <a:extLst>
                  <a:ext uri="{0D108BD9-81ED-4DB2-BD59-A6C34878D82A}">
                    <a16:rowId xmlns:a16="http://schemas.microsoft.com/office/drawing/2014/main" val="10002"/>
                  </a:ext>
                </a:extLst>
              </a:tr>
              <a:tr h="940000">
                <a:tc>
                  <a:txBody>
                    <a:bodyPr/>
                    <a:lstStyle/>
                    <a:p>
                      <a:pPr algn="ctr"/>
                      <a:r>
                        <a:rPr lang="en-US" sz="1100" dirty="0">
                          <a:latin typeface="Calibri"/>
                        </a:rPr>
                        <a:t>8</a:t>
                      </a:r>
                    </a:p>
                  </a:txBody>
                  <a:tcPr marL="54000" marR="54000" marT="27000" marB="27000" anchor="ctr"/>
                </a:tc>
                <a:tc>
                  <a:txBody>
                    <a:bodyPr/>
                    <a:lstStyle/>
                    <a:p>
                      <a:r>
                        <a:rPr lang="en-US" sz="1100" dirty="0">
                          <a:latin typeface="Calibri"/>
                        </a:rPr>
                        <a:t>Redyuk et al. (2021)</a:t>
                      </a:r>
                    </a:p>
                  </a:txBody>
                  <a:tcPr marL="54000" marR="54000" marT="27000" marB="27000" anchor="ctr"/>
                </a:tc>
                <a:tc>
                  <a:txBody>
                    <a:bodyPr/>
                    <a:lstStyle/>
                    <a:p>
                      <a:r>
                        <a:rPr lang="en-US" sz="1100" dirty="0">
                          <a:latin typeface="Calibri"/>
                        </a:rPr>
                        <a:t>Automated data-quality validation for continuously ingested data with adaptive thresholds.</a:t>
                      </a:r>
                    </a:p>
                  </a:txBody>
                  <a:tcPr marL="54000" marR="54000" marT="27000" marB="27000" anchor="ctr"/>
                </a:tc>
                <a:tc>
                  <a:txBody>
                    <a:bodyPr/>
                    <a:lstStyle/>
                    <a:p>
                      <a:r>
                        <a:rPr lang="en-US" sz="1100" dirty="0">
                          <a:latin typeface="Calibri"/>
                        </a:rPr>
                        <a:t>Extends Sentinel toward pipeline / batch ingestion.</a:t>
                      </a:r>
                    </a:p>
                  </a:txBody>
                  <a:tcPr marL="54000" marR="54000" marT="27000" marB="27000" anchor="ctr"/>
                </a:tc>
                <a:extLst>
                  <a:ext uri="{0D108BD9-81ED-4DB2-BD59-A6C34878D82A}">
                    <a16:rowId xmlns:a16="http://schemas.microsoft.com/office/drawing/2014/main" val="10003"/>
                  </a:ext>
                </a:extLst>
              </a:tr>
              <a:tr h="940000">
                <a:tc>
                  <a:txBody>
                    <a:bodyPr/>
                    <a:lstStyle/>
                    <a:p>
                      <a:pPr algn="ctr"/>
                      <a:r>
                        <a:rPr lang="en-US" sz="1100" dirty="0">
                          <a:latin typeface="Calibri"/>
                        </a:rPr>
                        <a:t>9</a:t>
                      </a:r>
                    </a:p>
                  </a:txBody>
                  <a:tcPr marL="54000" marR="54000" marT="27000" marB="27000" anchor="ctr"/>
                </a:tc>
                <a:tc>
                  <a:txBody>
                    <a:bodyPr/>
                    <a:lstStyle/>
                    <a:p>
                      <a:r>
                        <a:rPr lang="en-US" sz="1100" dirty="0">
                          <a:latin typeface="Calibri"/>
                        </a:rPr>
                        <a:t>Sculley et al. (2015)</a:t>
                      </a:r>
                    </a:p>
                  </a:txBody>
                  <a:tcPr marL="54000" marR="54000" marT="27000" marB="27000" anchor="ctr"/>
                </a:tc>
                <a:tc>
                  <a:txBody>
                    <a:bodyPr/>
                    <a:lstStyle/>
                    <a:p>
                      <a:r>
                        <a:rPr lang="en-US" sz="1100" dirty="0">
                          <a:latin typeface="Calibri"/>
                        </a:rPr>
                        <a:t>Showed unchecked data dependencies create hidden technical debt in ML systems.</a:t>
                      </a:r>
                    </a:p>
                  </a:txBody>
                  <a:tcPr marL="54000" marR="54000" marT="27000" marB="27000" anchor="ctr"/>
                </a:tc>
                <a:tc>
                  <a:txBody>
                    <a:bodyPr/>
                    <a:lstStyle/>
                    <a:p>
                      <a:r>
                        <a:rPr lang="en-US" sz="1100" dirty="0">
                          <a:latin typeface="Calibri"/>
                        </a:rPr>
                        <a:t>Justifies validating data before it is consumed.</a:t>
                      </a:r>
                    </a:p>
                  </a:txBody>
                  <a:tcPr marL="54000" marR="54000" marT="27000" marB="27000" anchor="ctr"/>
                </a:tc>
                <a:extLst>
                  <a:ext uri="{0D108BD9-81ED-4DB2-BD59-A6C34878D82A}">
                    <a16:rowId xmlns:a16="http://schemas.microsoft.com/office/drawing/2014/main" val="10004"/>
                  </a:ext>
                </a:extLst>
              </a:tr>
              <a:tr h="940000">
                <a:tc>
                  <a:txBody>
                    <a:bodyPr/>
                    <a:lstStyle/>
                    <a:p>
                      <a:pPr algn="ctr"/>
                      <a:r>
                        <a:rPr lang="en-US" sz="1100" dirty="0">
                          <a:latin typeface="Calibri"/>
                        </a:rPr>
                        <a:t>10</a:t>
                      </a:r>
                    </a:p>
                  </a:txBody>
                  <a:tcPr marL="54000" marR="54000" marT="27000" marB="27000" anchor="ctr"/>
                </a:tc>
                <a:tc>
                  <a:txBody>
                    <a:bodyPr/>
                    <a:lstStyle/>
                    <a:p>
                      <a:r>
                        <a:rPr lang="en-US" sz="1100" dirty="0">
                          <a:latin typeface="Calibri"/>
                        </a:rPr>
                        <a:t>Polyzotis et al. (2018)</a:t>
                      </a:r>
                    </a:p>
                  </a:txBody>
                  <a:tcPr marL="54000" marR="54000" marT="27000" marB="27000" anchor="ctr"/>
                </a:tc>
                <a:tc>
                  <a:txBody>
                    <a:bodyPr/>
                    <a:lstStyle/>
                    <a:p>
                      <a:r>
                        <a:rPr lang="en-US" sz="1100" dirty="0">
                          <a:latin typeface="Calibri"/>
                        </a:rPr>
                        <a:t>Surveyed data-management challenges — validation, understanding, cleaning — in production ML.</a:t>
                      </a:r>
                    </a:p>
                  </a:txBody>
                  <a:tcPr marL="54000" marR="54000" marT="27000" marB="27000" anchor="ctr"/>
                </a:tc>
                <a:tc>
                  <a:txBody>
                    <a:bodyPr/>
                    <a:lstStyle/>
                    <a:p>
                      <a:r>
                        <a:rPr lang="en-US" sz="1100" dirty="0">
                          <a:latin typeface="Calibri"/>
                        </a:rPr>
                        <a:t>Positions Sentinel across the data lifecycle.</a:t>
                      </a:r>
                    </a:p>
                  </a:txBody>
                  <a:tcPr marL="54000" marR="54000" marT="27000" marB="27000"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720872" y="-122405"/>
            <a:ext cx="9144000" cy="1188720"/>
          </a:xfrm>
          <a:prstGeom prst="rect">
            <a:avLst/>
          </a:prstGeom>
          <a:noFill/>
          <a:ln/>
        </p:spPr>
        <p:txBody>
          <a:bodyPr wrap="square" rtlCol="0" anchor="ctr"/>
          <a:lstStyle/>
          <a:p>
            <a:pPr marL="0" indent="0">
              <a:buNone/>
            </a:pPr>
            <a:r>
              <a:rPr lang="en-US" sz="3200" b="1" dirty="0">
                <a:latin typeface="Cambria" pitchFamily="34" charset="0"/>
                <a:ea typeface="Cambria" pitchFamily="34" charset="-122"/>
                <a:cs typeface="Cambria" pitchFamily="34" charset="-120"/>
              </a:rPr>
              <a:t>Objectives</a:t>
            </a:r>
            <a:endParaRPr lang="en-US" sz="3200" dirty="0"/>
          </a:p>
        </p:txBody>
      </p:sp>
      <p:pic>
        <p:nvPicPr>
          <p:cNvPr id="21" name="Image 0" descr="klh_logo.png">
            <a:extLst>
              <a:ext uri="{FF2B5EF4-FFF2-40B4-BE49-F238E27FC236}">
                <a16:creationId xmlns:a16="http://schemas.microsoft.com/office/drawing/2014/main" id="{818D94E6-D6DF-ECD3-60A4-3FE0A3FBB180}"/>
              </a:ext>
            </a:extLst>
          </p:cNvPr>
          <p:cNvPicPr>
            <a:picLocks noChangeAspect="1"/>
          </p:cNvPicPr>
          <p:nvPr/>
        </p:nvPicPr>
        <p:blipFill>
          <a:blip r:embed="rId2"/>
          <a:stretch>
            <a:fillRect/>
          </a:stretch>
        </p:blipFill>
        <p:spPr>
          <a:xfrm>
            <a:off x="10039265" y="160020"/>
            <a:ext cx="1902045" cy="623871"/>
          </a:xfrm>
          <a:prstGeom prst="rect">
            <a:avLst/>
          </a:prstGeom>
        </p:spPr>
      </p:pic>
      <p:sp>
        <p:nvSpPr>
          <p:cNvPr id="24" name="Body"/>
          <p:cNvSpPr txBox="1"/>
          <p:nvPr/>
        </p:nvSpPr>
        <p:spPr>
          <a:xfrm>
            <a:off x="720872" y="1000000"/>
            <a:ext cx="10890460" cy="5100000"/>
          </a:xfrm>
          <a:prstGeom prst="rect">
            <a:avLst/>
          </a:prstGeom>
          <a:noFill/>
        </p:spPr>
        <p:txBody>
          <a:bodyPr wrap="square">
            <a:normAutofit/>
          </a:bodyPr>
          <a:lstStyle/>
          <a:p>
            <a:pPr marL="0" indent="0">
              <a:buNone/>
            </a:pPr>
            <a:r>
              <a:rPr lang="en-US" sz="2000" b="1" dirty="0">
                <a:latin typeface="Calibri"/>
              </a:rPr>
              <a:t>Objective: build a data reliability platform that validates datasets against declarative data contracts before they are used in dashboards, applications, analytics, or AI systems.</a:t>
            </a:r>
          </a:p>
          <a:p>
            <a:pPr marL="0" indent="0">
              <a:buNone/>
            </a:pPr>
            <a:endParaRPr lang="en-US" sz="800"/>
          </a:p>
          <a:p>
            <a:pPr marL="342900" indent="-342900">
              <a:buFont typeface="Arial" pitchFamily="34" charset="0"/>
              <a:buChar char="•"/>
            </a:pPr>
            <a:r>
              <a:rPr lang="en-US" sz="1800" dirty="0">
                <a:latin typeface="Calibri"/>
              </a:rPr>
              <a:t>Design a declarative data-contract model of column-level rules that defines what “good” data looks like.</a:t>
            </a:r>
          </a:p>
          <a:p>
            <a:pPr marL="342900" indent="-342900">
              <a:buFont typeface="Arial" pitchFamily="34" charset="0"/>
              <a:buChar char="•"/>
            </a:pPr>
            <a:r>
              <a:rPr lang="en-US" sz="1800" dirty="0">
                <a:latin typeface="Calibri"/>
              </a:rPr>
              <a:t>Build a pluggable validation engine with six rule types: not-null, positive, in-set, valid-date, unique, and regex.</a:t>
            </a:r>
          </a:p>
          <a:p>
            <a:pPr marL="342900" indent="-342900">
              <a:buFont typeface="Arial" pitchFamily="34" charset="0"/>
              <a:buChar char="•"/>
            </a:pPr>
            <a:r>
              <a:rPr lang="en-US" sz="1800" dirty="0">
                <a:latin typeface="Calibri"/>
              </a:rPr>
              <a:t>Separate valid and invalid records, storing a clear, human-readable reason for every failed row (quarantine).</a:t>
            </a:r>
          </a:p>
          <a:p>
            <a:pPr marL="342900" indent="-342900">
              <a:buFont typeface="Arial" pitchFamily="34" charset="0"/>
              <a:buChar char="•"/>
            </a:pPr>
            <a:r>
              <a:rPr lang="en-US" sz="1800" dirty="0">
                <a:latin typeface="Calibri"/>
              </a:rPr>
              <a:t>Compute a dataset health score and generate validation reports that summarize the most common errors.</a:t>
            </a:r>
          </a:p>
          <a:p>
            <a:pPr marL="342900" indent="-342900">
              <a:buFont typeface="Arial" pitchFamily="34" charset="0"/>
              <a:buChar char="•"/>
            </a:pPr>
            <a:r>
              <a:rPr lang="en-US" sz="1800" dirty="0">
                <a:latin typeface="Calibri"/>
              </a:rPr>
              <a:t>Expose upload, validation, and reporting through a documented REST API using FastAPI and PostgreSQL.</a:t>
            </a:r>
          </a:p>
          <a:p>
            <a:pPr marL="342900" indent="-342900">
              <a:buFont typeface="Arial" pitchFamily="34" charset="0"/>
              <a:buChar char="•"/>
            </a:pPr>
            <a:r>
              <a:rPr lang="en-US" sz="1800" dirty="0">
                <a:latin typeface="Calibri"/>
              </a:rPr>
              <a:t>Ensure reproducibility and reliability via Docker, pytest testing, and CI/CD deployment to a free-tier cloud host.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720872" y="-122405"/>
            <a:ext cx="9144000" cy="1188720"/>
          </a:xfrm>
          <a:prstGeom prst="rect">
            <a:avLst/>
          </a:prstGeom>
          <a:noFill/>
          <a:ln/>
        </p:spPr>
        <p:txBody>
          <a:bodyPr wrap="square" rtlCol="0" anchor="ctr"/>
          <a:lstStyle/>
          <a:p>
            <a:pPr marL="0" indent="0">
              <a:buNone/>
            </a:pPr>
            <a:r>
              <a:rPr lang="en-US" sz="3200" b="1" dirty="0">
                <a:latin typeface="Cambria" pitchFamily="34" charset="0"/>
                <a:ea typeface="Cambria" pitchFamily="34" charset="-122"/>
                <a:cs typeface="Cambria" pitchFamily="34" charset="-120"/>
              </a:rPr>
              <a:t>Existing Systems</a:t>
            </a:r>
            <a:endParaRPr lang="en-US" sz="3200" dirty="0"/>
          </a:p>
        </p:txBody>
      </p:sp>
      <p:pic>
        <p:nvPicPr>
          <p:cNvPr id="21" name="Image 0" descr="klh_logo.png">
            <a:extLst>
              <a:ext uri="{FF2B5EF4-FFF2-40B4-BE49-F238E27FC236}">
                <a16:creationId xmlns:a16="http://schemas.microsoft.com/office/drawing/2014/main" id="{818D94E6-D6DF-ECD3-60A4-3FE0A3FBB180}"/>
              </a:ext>
            </a:extLst>
          </p:cNvPr>
          <p:cNvPicPr>
            <a:picLocks noChangeAspect="1"/>
          </p:cNvPicPr>
          <p:nvPr/>
        </p:nvPicPr>
        <p:blipFill>
          <a:blip r:embed="rId3"/>
          <a:stretch>
            <a:fillRect/>
          </a:stretch>
        </p:blipFill>
        <p:spPr>
          <a:xfrm>
            <a:off x="10039265" y="160020"/>
            <a:ext cx="1902045" cy="623871"/>
          </a:xfrm>
          <a:prstGeom prst="rect">
            <a:avLst/>
          </a:prstGeom>
        </p:spPr>
      </p:pic>
      <p:sp>
        <p:nvSpPr>
          <p:cNvPr id="24" name="Body"/>
          <p:cNvSpPr txBox="1"/>
          <p:nvPr/>
        </p:nvSpPr>
        <p:spPr>
          <a:xfrm>
            <a:off x="720872" y="1000000"/>
            <a:ext cx="10890460" cy="5150000"/>
          </a:xfrm>
          <a:prstGeom prst="rect">
            <a:avLst/>
          </a:prstGeom>
          <a:noFill/>
        </p:spPr>
        <p:txBody>
          <a:bodyPr wrap="square">
            <a:normAutofit/>
          </a:bodyPr>
          <a:lstStyle/>
          <a:p>
            <a:pPr marL="342900" indent="-342900">
              <a:buFont typeface="Arial" pitchFamily="34" charset="0"/>
              <a:buChar char="•"/>
            </a:pPr>
            <a:r>
              <a:rPr lang="en-US" sz="1700" b="1" dirty="0">
                <a:latin typeface="Calibri"/>
              </a:rPr>
              <a:t>Manual / ad-hoc checks: </a:t>
            </a:r>
            <a:r>
              <a:rPr lang="en-US" sz="1700" dirty="0">
                <a:latin typeface="Calibri"/>
              </a:rPr>
              <a:t>SQL scripts, spreadsheet checks, and custom scripts written per pipeline to spot bad data.</a:t>
            </a:r>
          </a:p>
          <a:p>
            <a:pPr marL="342900" indent="-342900">
              <a:buFont typeface="Arial" pitchFamily="34" charset="0"/>
              <a:buChar char="•"/>
            </a:pPr>
            <a:r>
              <a:rPr lang="en-US" sz="1700" b="1" dirty="0">
                <a:latin typeface="Calibri"/>
              </a:rPr>
              <a:t>ETL / ELT tools: </a:t>
            </a:r>
            <a:r>
              <a:rPr lang="en-US" sz="1700" dirty="0">
                <a:latin typeface="Calibri"/>
              </a:rPr>
              <a:t>Informatica, Talend, and dbt tests provide basic validation as part of data movement.</a:t>
            </a:r>
          </a:p>
          <a:p>
            <a:pPr marL="342900" indent="-342900">
              <a:buFont typeface="Arial" pitchFamily="34" charset="0"/>
              <a:buChar char="•"/>
            </a:pPr>
            <a:r>
              <a:rPr lang="en-US" sz="1700" b="1" dirty="0">
                <a:latin typeface="Calibri"/>
              </a:rPr>
              <a:t>Dedicated data-quality frameworks: </a:t>
            </a:r>
            <a:r>
              <a:rPr lang="en-US" sz="1700" dirty="0">
                <a:latin typeface="Calibri"/>
              </a:rPr>
              <a:t>Amazon Deequ (constraint-based, on Spark), Great Expectations (Python expectation suites), and Soda.</a:t>
            </a:r>
          </a:p>
          <a:p>
            <a:pPr marL="342900" indent="-342900">
              <a:buFont typeface="Arial" pitchFamily="34" charset="0"/>
              <a:buChar char="•"/>
            </a:pPr>
            <a:r>
              <a:rPr lang="en-US" sz="1700" b="1" dirty="0">
                <a:latin typeface="Calibri"/>
              </a:rPr>
              <a:t>ML data validation: </a:t>
            </a:r>
            <a:r>
              <a:rPr lang="en-US" sz="1700" dirty="0">
                <a:latin typeface="Calibri"/>
              </a:rPr>
              <a:t>Google TFDV validates data against a schema inside TensorFlow/TFX machine-learning pipelines.</a:t>
            </a:r>
          </a:p>
          <a:p>
            <a:pPr marL="342900" indent="-342900">
              <a:buFont typeface="Arial" pitchFamily="34" charset="0"/>
              <a:buChar char="•"/>
            </a:pPr>
            <a:r>
              <a:rPr lang="en-US" sz="1700" b="1" dirty="0">
                <a:latin typeface="Calibri"/>
              </a:rPr>
              <a:t>Cloud data-quality services: </a:t>
            </a:r>
            <a:r>
              <a:rPr lang="en-US" sz="1700" dirty="0">
                <a:latin typeface="Calibri"/>
              </a:rPr>
              <a:t>AWS Glue Data Quality and similar managed offerings within large cloud platforms.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720872" y="-122405"/>
            <a:ext cx="9144000" cy="1188720"/>
          </a:xfrm>
          <a:prstGeom prst="rect">
            <a:avLst/>
          </a:prstGeom>
          <a:noFill/>
          <a:ln/>
        </p:spPr>
        <p:txBody>
          <a:bodyPr wrap="square" rtlCol="0" anchor="ctr"/>
          <a:lstStyle/>
          <a:p>
            <a:pPr marL="0" indent="0">
              <a:buNone/>
            </a:pPr>
            <a:r>
              <a:rPr lang="en-US" sz="3200" b="1" dirty="0">
                <a:latin typeface="Cambria" pitchFamily="34" charset="0"/>
                <a:ea typeface="Cambria" pitchFamily="34" charset="-122"/>
                <a:cs typeface="Cambria" pitchFamily="34" charset="-120"/>
              </a:rPr>
              <a:t>Limitations of Existing Systems</a:t>
            </a:r>
            <a:endParaRPr lang="en-US" sz="3200" dirty="0"/>
          </a:p>
        </p:txBody>
      </p:sp>
      <p:pic>
        <p:nvPicPr>
          <p:cNvPr id="21" name="Image 0" descr="klh_logo.png">
            <a:extLst>
              <a:ext uri="{FF2B5EF4-FFF2-40B4-BE49-F238E27FC236}">
                <a16:creationId xmlns:a16="http://schemas.microsoft.com/office/drawing/2014/main" id="{818D94E6-D6DF-ECD3-60A4-3FE0A3FBB180}"/>
              </a:ext>
            </a:extLst>
          </p:cNvPr>
          <p:cNvPicPr>
            <a:picLocks noChangeAspect="1"/>
          </p:cNvPicPr>
          <p:nvPr/>
        </p:nvPicPr>
        <p:blipFill>
          <a:blip r:embed="rId3"/>
          <a:stretch>
            <a:fillRect/>
          </a:stretch>
        </p:blipFill>
        <p:spPr>
          <a:xfrm>
            <a:off x="10039265" y="160020"/>
            <a:ext cx="1902045" cy="623871"/>
          </a:xfrm>
          <a:prstGeom prst="rect">
            <a:avLst/>
          </a:prstGeom>
        </p:spPr>
      </p:pic>
      <p:sp>
        <p:nvSpPr>
          <p:cNvPr id="24" name="Body"/>
          <p:cNvSpPr txBox="1"/>
          <p:nvPr/>
        </p:nvSpPr>
        <p:spPr>
          <a:xfrm>
            <a:off x="720872" y="1000000"/>
            <a:ext cx="10890460" cy="5150000"/>
          </a:xfrm>
          <a:prstGeom prst="rect">
            <a:avLst/>
          </a:prstGeom>
          <a:noFill/>
        </p:spPr>
        <p:txBody>
          <a:bodyPr wrap="square">
            <a:normAutofit/>
          </a:bodyPr>
          <a:lstStyle/>
          <a:p>
            <a:pPr marL="342900" indent="-342900">
              <a:buFont typeface="Arial" pitchFamily="34" charset="0"/>
              <a:buChar char="•"/>
            </a:pPr>
            <a:r>
              <a:rPr lang="en-US" sz="1700" b="1" dirty="0">
                <a:latin typeface="Calibri"/>
              </a:rPr>
              <a:t>Infrastructure-heavy: </a:t>
            </a:r>
            <a:r>
              <a:rPr lang="en-US" sz="1700" dirty="0">
                <a:latin typeface="Calibri"/>
              </a:rPr>
              <a:t>Deequ needs Spark and TFDV is tied to TensorFlow — hard for small teams or general datasets to adopt.</a:t>
            </a:r>
          </a:p>
          <a:p>
            <a:pPr marL="342900" indent="-342900">
              <a:buFont typeface="Arial" pitchFamily="34" charset="0"/>
              <a:buChar char="•"/>
            </a:pPr>
            <a:r>
              <a:rPr lang="en-US" sz="1700" b="1" dirty="0">
                <a:latin typeface="Calibri"/>
              </a:rPr>
              <a:t>Weak explainability: </a:t>
            </a:r>
            <a:r>
              <a:rPr lang="en-US" sz="1700" dirty="0">
                <a:latin typeface="Calibri"/>
              </a:rPr>
              <a:t>many tools flag issues but do not preserve every bad row with a clear, per-row reason.</a:t>
            </a:r>
          </a:p>
          <a:p>
            <a:pPr marL="342900" indent="-342900">
              <a:buFont typeface="Arial" pitchFamily="34" charset="0"/>
              <a:buChar char="•"/>
            </a:pPr>
            <a:r>
              <a:rPr lang="en-US" sz="1700" b="1" dirty="0">
                <a:latin typeface="Calibri"/>
              </a:rPr>
              <a:t>Manual thresholds: </a:t>
            </a:r>
            <a:r>
              <a:rPr lang="en-US" sz="1700" dirty="0">
                <a:latin typeface="Calibri"/>
              </a:rPr>
              <a:t>rules and thresholds must be hand-defined and maintained, and break when data legitimately changes.</a:t>
            </a:r>
          </a:p>
          <a:p>
            <a:pPr marL="342900" indent="-342900">
              <a:buFont typeface="Arial" pitchFamily="34" charset="0"/>
              <a:buChar char="•"/>
            </a:pPr>
            <a:r>
              <a:rPr lang="en-US" sz="1700" b="1" dirty="0">
                <a:latin typeface="Calibri"/>
              </a:rPr>
              <a:t>Fragmented tooling: </a:t>
            </a:r>
            <a:r>
              <a:rPr lang="en-US" sz="1700" dirty="0">
                <a:latin typeface="Calibri"/>
              </a:rPr>
              <a:t>validation, reporting, and storage often live in separate tools — no single, accessible platform.</a:t>
            </a:r>
          </a:p>
          <a:p>
            <a:pPr marL="342900" indent="-342900">
              <a:buFont typeface="Arial" pitchFamily="34" charset="0"/>
              <a:buChar char="•"/>
            </a:pPr>
            <a:r>
              <a:rPr lang="en-US" sz="1700" b="1" dirty="0">
                <a:latin typeface="Calibri"/>
              </a:rPr>
              <a:t>Load-first culture: </a:t>
            </a:r>
            <a:r>
              <a:rPr lang="en-US" sz="1700" dirty="0">
                <a:latin typeface="Calibri"/>
              </a:rPr>
              <a:t>most pipelines load data first and discover errors later (or never) — there is no gate before use.</a:t>
            </a:r>
          </a:p>
          <a:p>
            <a:pPr marL="342900" indent="-342900">
              <a:buFont typeface="Arial" pitchFamily="34" charset="0"/>
              <a:buChar char="•"/>
            </a:pPr>
            <a:r>
              <a:rPr lang="en-US" sz="1700" b="1" dirty="0">
                <a:latin typeface="Calibri"/>
              </a:rPr>
              <a:t>Low transparency: </a:t>
            </a:r>
            <a:r>
              <a:rPr lang="en-US" sz="1700" dirty="0">
                <a:latin typeface="Calibri"/>
              </a:rPr>
              <a:t>complex systems that are hard for a student team to fully explain or extend.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720872" y="-122405"/>
            <a:ext cx="9144000" cy="1188720"/>
          </a:xfrm>
          <a:prstGeom prst="rect">
            <a:avLst/>
          </a:prstGeom>
          <a:noFill/>
          <a:ln/>
        </p:spPr>
        <p:txBody>
          <a:bodyPr wrap="square" rtlCol="0" anchor="ctr"/>
          <a:lstStyle/>
          <a:p>
            <a:pPr marL="0" indent="0">
              <a:buNone/>
            </a:pPr>
            <a:r>
              <a:rPr lang="en-US" sz="3200" b="1" dirty="0">
                <a:latin typeface="Cambria" pitchFamily="34" charset="0"/>
                <a:ea typeface="Cambria" pitchFamily="34" charset="-122"/>
                <a:cs typeface="Cambria" pitchFamily="34" charset="-120"/>
              </a:rPr>
              <a:t>Proposed Solution</a:t>
            </a:r>
            <a:endParaRPr lang="en-US" sz="3200" dirty="0"/>
          </a:p>
        </p:txBody>
      </p:sp>
      <p:pic>
        <p:nvPicPr>
          <p:cNvPr id="21" name="Image 0" descr="klh_logo.png">
            <a:extLst>
              <a:ext uri="{FF2B5EF4-FFF2-40B4-BE49-F238E27FC236}">
                <a16:creationId xmlns:a16="http://schemas.microsoft.com/office/drawing/2014/main" id="{818D94E6-D6DF-ECD3-60A4-3FE0A3FBB180}"/>
              </a:ext>
            </a:extLst>
          </p:cNvPr>
          <p:cNvPicPr>
            <a:picLocks noChangeAspect="1"/>
          </p:cNvPicPr>
          <p:nvPr/>
        </p:nvPicPr>
        <p:blipFill>
          <a:blip r:embed="rId3"/>
          <a:stretch>
            <a:fillRect/>
          </a:stretch>
        </p:blipFill>
        <p:spPr>
          <a:xfrm>
            <a:off x="10039265" y="160020"/>
            <a:ext cx="1902045" cy="623871"/>
          </a:xfrm>
          <a:prstGeom prst="rect">
            <a:avLst/>
          </a:prstGeom>
        </p:spPr>
      </p:pic>
      <p:sp>
        <p:nvSpPr>
          <p:cNvPr id="24" name="Body"/>
          <p:cNvSpPr txBox="1"/>
          <p:nvPr/>
        </p:nvSpPr>
        <p:spPr>
          <a:xfrm>
            <a:off x="720872" y="1000000"/>
            <a:ext cx="10890460" cy="5150000"/>
          </a:xfrm>
          <a:prstGeom prst="rect">
            <a:avLst/>
          </a:prstGeom>
          <a:noFill/>
        </p:spPr>
        <p:txBody>
          <a:bodyPr wrap="square">
            <a:normAutofit/>
          </a:bodyPr>
          <a:lstStyle/>
          <a:p>
            <a:pPr marL="0" indent="0">
              <a:buNone/>
            </a:pPr>
            <a:r>
              <a:rPr lang="en-US" sz="1900" b="1" dirty="0">
                <a:latin typeface="Calibri"/>
              </a:rPr>
              <a:t>Sentinel: a lightweight, transparent, framework-agnostic data reliability platform.</a:t>
            </a:r>
          </a:p>
          <a:p>
            <a:pPr marL="0" indent="0">
              <a:buNone/>
            </a:pPr>
            <a:endParaRPr lang="en-US" sz="700"/>
          </a:p>
          <a:p>
            <a:pPr marL="342900" indent="-342900">
              <a:buFont typeface="Arial" pitchFamily="34" charset="0"/>
              <a:buChar char="•"/>
            </a:pPr>
            <a:r>
              <a:rPr lang="en-US" sz="1700" b="1" dirty="0">
                <a:latin typeface="Calibri"/>
              </a:rPr>
              <a:t>Declarative data contracts: </a:t>
            </a:r>
            <a:r>
              <a:rPr lang="en-US" sz="1700" dirty="0">
                <a:latin typeface="Calibri"/>
              </a:rPr>
              <a:t>validation rules stored as configuration, not hardcoded logic.</a:t>
            </a:r>
          </a:p>
          <a:p>
            <a:pPr marL="342900" indent="-342900">
              <a:buFont typeface="Arial" pitchFamily="34" charset="0"/>
              <a:buChar char="•"/>
            </a:pPr>
            <a:r>
              <a:rPr lang="en-US" sz="1700" b="1" dirty="0">
                <a:latin typeface="Calibri"/>
              </a:rPr>
              <a:t>Pluggable rule engine: </a:t>
            </a:r>
            <a:r>
              <a:rPr lang="en-US" sz="1700" dirty="0">
                <a:latin typeface="Calibri"/>
              </a:rPr>
              <a:t>six rule types (not-null, positive, in-set, valid-date, unique, regex), easy to extend.</a:t>
            </a:r>
          </a:p>
          <a:p>
            <a:pPr marL="342900" indent="-342900">
              <a:buFont typeface="Arial" pitchFamily="34" charset="0"/>
              <a:buChar char="•"/>
            </a:pPr>
            <a:r>
              <a:rPr lang="en-US" sz="1700" b="1" dirty="0">
                <a:latin typeface="Calibri"/>
              </a:rPr>
              <a:t>Non-destructive quarantine: </a:t>
            </a:r>
            <a:r>
              <a:rPr lang="en-US" sz="1700" dirty="0">
                <a:latin typeface="Calibri"/>
              </a:rPr>
              <a:t>bad rows preserved with a human-readable reason for every failure.</a:t>
            </a:r>
          </a:p>
          <a:p>
            <a:pPr marL="342900" indent="-342900">
              <a:buFont typeface="Arial" pitchFamily="34" charset="0"/>
              <a:buChar char="•"/>
            </a:pPr>
            <a:r>
              <a:rPr lang="en-US" sz="1700" b="1" dirty="0">
                <a:latin typeface="Calibri"/>
              </a:rPr>
              <a:t>Health score + reports: </a:t>
            </a:r>
            <a:r>
              <a:rPr lang="en-US" sz="1700" dirty="0">
                <a:latin typeface="Calibri"/>
              </a:rPr>
              <a:t>a clear quality score and summary per dataset.</a:t>
            </a:r>
          </a:p>
          <a:p>
            <a:pPr marL="342900" indent="-342900">
              <a:buFont typeface="Arial" pitchFamily="34" charset="0"/>
              <a:buChar char="•"/>
            </a:pPr>
            <a:r>
              <a:rPr lang="en-US" sz="1700" b="1" dirty="0">
                <a:latin typeface="Calibri"/>
              </a:rPr>
              <a:t>Accessible: </a:t>
            </a:r>
            <a:r>
              <a:rPr lang="en-US" sz="1700" dirty="0">
                <a:latin typeface="Calibri"/>
              </a:rPr>
              <a:t>REST API and a simple dashboard; runs anywhere via Docker — no Spark or TensorFlow needed.</a:t>
            </a:r>
          </a:p>
          <a:p>
            <a:pPr marL="342900" indent="-342900">
              <a:buFont typeface="Arial" pitchFamily="34" charset="0"/>
              <a:buChar char="•"/>
            </a:pPr>
            <a:r>
              <a:rPr lang="en-US" sz="1700" b="1" dirty="0">
                <a:latin typeface="Calibri"/>
              </a:rPr>
              <a:t>Extensible roadmap: </a:t>
            </a:r>
            <a:r>
              <a:rPr lang="en-US" sz="1700" dirty="0">
                <a:latin typeface="Calibri"/>
              </a:rPr>
              <a:t>automated pipelines (Sem 2) and streaming AI-telemetry governance (Sem 3).</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720872" y="-122405"/>
            <a:ext cx="9144000" cy="1188720"/>
          </a:xfrm>
          <a:prstGeom prst="rect">
            <a:avLst/>
          </a:prstGeom>
          <a:noFill/>
          <a:ln/>
        </p:spPr>
        <p:txBody>
          <a:bodyPr wrap="square" rtlCol="0" anchor="ctr"/>
          <a:lstStyle/>
          <a:p>
            <a:pPr marL="0" indent="0">
              <a:buNone/>
            </a:pPr>
            <a:r>
              <a:rPr lang="en-US" sz="3200" b="1" dirty="0">
                <a:latin typeface="Cambria" pitchFamily="34" charset="0"/>
                <a:ea typeface="Cambria" pitchFamily="34" charset="-122"/>
                <a:cs typeface="Cambria" pitchFamily="34" charset="-120"/>
              </a:rPr>
              <a:t>Hardware &amp; Software Requirements</a:t>
            </a:r>
            <a:endParaRPr lang="en-US" sz="3200" dirty="0"/>
          </a:p>
        </p:txBody>
      </p:sp>
      <p:pic>
        <p:nvPicPr>
          <p:cNvPr id="21" name="Image 0" descr="klh_logo.png">
            <a:extLst>
              <a:ext uri="{FF2B5EF4-FFF2-40B4-BE49-F238E27FC236}">
                <a16:creationId xmlns:a16="http://schemas.microsoft.com/office/drawing/2014/main" id="{818D94E6-D6DF-ECD3-60A4-3FE0A3FBB180}"/>
              </a:ext>
            </a:extLst>
          </p:cNvPr>
          <p:cNvPicPr>
            <a:picLocks noChangeAspect="1"/>
          </p:cNvPicPr>
          <p:nvPr/>
        </p:nvPicPr>
        <p:blipFill>
          <a:blip r:embed="rId3"/>
          <a:stretch>
            <a:fillRect/>
          </a:stretch>
        </p:blipFill>
        <p:spPr>
          <a:xfrm>
            <a:off x="10039265" y="160020"/>
            <a:ext cx="1902045" cy="623871"/>
          </a:xfrm>
          <a:prstGeom prst="rect">
            <a:avLst/>
          </a:prstGeom>
        </p:spPr>
      </p:pic>
      <p:graphicFrame>
        <p:nvGraphicFramePr>
          <p:cNvPr id="40" name="Tbl"/>
          <p:cNvGraphicFramePr/>
          <p:nvPr/>
        </p:nvGraphicFramePr>
        <p:xfrm>
          <a:off x="720872" y="1000000"/>
          <a:ext cx="10890460" cy="4900000"/>
        </p:xfrm>
        <a:graphic>
          <a:graphicData uri="http://schemas.openxmlformats.org/drawingml/2006/table">
            <a:tbl>
              <a:tblPr firstRow="1">
                <a:tableStyleId>{5940675A-B579-460E-94D1-54222C63F5DA}</a:tableStyleId>
              </a:tblPr>
              <a:tblGrid>
                <a:gridCol w="3400000"/>
                <a:gridCol w="7490460"/>
              </a:tblGrid>
              <a:tr h="360000">
                <a:tc>
                  <a:txBody>
                    <a:bodyPr/>
                    <a:lstStyle/>
                    <a:p>
                      <a:pPr algn="ctr"/>
                      <a:r>
                        <a:rPr lang="en-US" sz="1300" b="1" dirty="0">
                          <a:solidFill>
                            <a:srgbClr val="FFFFFF"/>
                          </a:solidFill>
                          <a:latin typeface="Cambria"/>
                        </a:rPr>
                        <a:t>Category</a:t>
                      </a:r>
                    </a:p>
                  </a:txBody>
                  <a:tcPr marL="54000" marR="54000" marT="24000" marB="24000" anchor="ctr">
                    <a:solidFill>
                      <a:srgbClr val="8C1D40"/>
                    </a:solidFill>
                  </a:tcPr>
                </a:tc>
                <a:tc>
                  <a:txBody>
                    <a:bodyPr/>
                    <a:lstStyle/>
                    <a:p>
                      <a:pPr algn="ctr"/>
                      <a:r>
                        <a:rPr lang="en-US" sz="1300" b="1" dirty="0">
                          <a:solidFill>
                            <a:srgbClr val="FFFFFF"/>
                          </a:solidFill>
                          <a:latin typeface="Cambria"/>
                        </a:rPr>
                        <a:t>Requirement</a:t>
                      </a:r>
                    </a:p>
                  </a:txBody>
                  <a:tcPr marL="54000" marR="54000" marT="24000" marB="24000" anchor="ctr">
                    <a:solidFill>
                      <a:srgbClr val="8C1D40"/>
                    </a:solidFill>
                  </a:tcPr>
                </a:tc>
              </a:tr>
              <a:tr h="470000">
                <a:tc>
                  <a:txBody>
                    <a:bodyPr/>
                    <a:lstStyle/>
                    <a:p>
                      <a:pPr/>
                      <a:r>
                        <a:rPr lang="en-US" sz="1200" dirty="0">
                          <a:latin typeface="Calibri"/>
                        </a:rPr>
                        <a:t>Development machine</a:t>
                      </a:r>
                    </a:p>
                  </a:txBody>
                  <a:tcPr marL="54000" marR="54000" marT="24000" marB="24000" anchor="ctr"/>
                </a:tc>
                <a:tc>
                  <a:txBody>
                    <a:bodyPr/>
                    <a:lstStyle/>
                    <a:p>
                      <a:pPr/>
                      <a:r>
                        <a:rPr lang="en-US" sz="1200" dirty="0">
                          <a:latin typeface="Calibri"/>
                        </a:rPr>
                        <a:t>Any laptop; 8 GB RAM (16 GB recommended); 4-core CPU; ~5 GB free disk</a:t>
                      </a:r>
                    </a:p>
                  </a:txBody>
                  <a:tcPr marL="54000" marR="54000" marT="24000" marB="24000" anchor="ctr"/>
                </a:tc>
              </a:tr>
              <a:tr h="470000">
                <a:tc>
                  <a:txBody>
                    <a:bodyPr/>
                    <a:lstStyle/>
                    <a:p>
                      <a:pPr/>
                      <a:r>
                        <a:rPr lang="en-US" sz="1200" dirty="0">
                          <a:latin typeface="Calibri"/>
                        </a:rPr>
                        <a:t>Operating system</a:t>
                      </a:r>
                    </a:p>
                  </a:txBody>
                  <a:tcPr marL="54000" marR="54000" marT="24000" marB="24000" anchor="ctr"/>
                </a:tc>
                <a:tc>
                  <a:txBody>
                    <a:bodyPr/>
                    <a:lstStyle/>
                    <a:p>
                      <a:pPr/>
                      <a:r>
                        <a:rPr lang="en-US" sz="1200" dirty="0">
                          <a:latin typeface="Calibri"/>
                        </a:rPr>
                        <a:t>Windows, macOS, or Linux</a:t>
                      </a:r>
                    </a:p>
                  </a:txBody>
                  <a:tcPr marL="54000" marR="54000" marT="24000" marB="24000" anchor="ctr"/>
                </a:tc>
              </a:tr>
              <a:tr h="470000">
                <a:tc>
                  <a:txBody>
                    <a:bodyPr/>
                    <a:lstStyle/>
                    <a:p>
                      <a:pPr/>
                      <a:r>
                        <a:rPr lang="en-US" sz="1200" dirty="0">
                          <a:latin typeface="Calibri"/>
                        </a:rPr>
                        <a:t>Containerization</a:t>
                      </a:r>
                    </a:p>
                  </a:txBody>
                  <a:tcPr marL="54000" marR="54000" marT="24000" marB="24000" anchor="ctr"/>
                </a:tc>
                <a:tc>
                  <a:txBody>
                    <a:bodyPr/>
                    <a:lstStyle/>
                    <a:p>
                      <a:pPr/>
                      <a:r>
                        <a:rPr lang="en-US" sz="1200" dirty="0">
                          <a:latin typeface="Calibri"/>
                        </a:rPr>
                        <a:t>Docker Desktop with Docker Compose v2+</a:t>
                      </a:r>
                    </a:p>
                  </a:txBody>
                  <a:tcPr marL="54000" marR="54000" marT="24000" marB="24000" anchor="ctr"/>
                </a:tc>
              </a:tr>
              <a:tr h="470000">
                <a:tc>
                  <a:txBody>
                    <a:bodyPr/>
                    <a:lstStyle/>
                    <a:p>
                      <a:pPr/>
                      <a:r>
                        <a:rPr lang="en-US" sz="1200" dirty="0">
                          <a:latin typeface="Calibri"/>
                        </a:rPr>
                        <a:t>Language / runtime</a:t>
                      </a:r>
                    </a:p>
                  </a:txBody>
                  <a:tcPr marL="54000" marR="54000" marT="24000" marB="24000" anchor="ctr"/>
                </a:tc>
                <a:tc>
                  <a:txBody>
                    <a:bodyPr/>
                    <a:lstStyle/>
                    <a:p>
                      <a:pPr/>
                      <a:r>
                        <a:rPr lang="en-US" sz="1200" dirty="0">
                          <a:latin typeface="Calibri"/>
                        </a:rPr>
                        <a:t>Python 3.12</a:t>
                      </a:r>
                    </a:p>
                  </a:txBody>
                  <a:tcPr marL="54000" marR="54000" marT="24000" marB="24000" anchor="ctr"/>
                </a:tc>
              </a:tr>
              <a:tr h="470000">
                <a:tc>
                  <a:txBody>
                    <a:bodyPr/>
                    <a:lstStyle/>
                    <a:p>
                      <a:pPr/>
                      <a:r>
                        <a:rPr lang="en-US" sz="1200" dirty="0">
                          <a:latin typeface="Calibri"/>
                        </a:rPr>
                        <a:t>Database</a:t>
                      </a:r>
                    </a:p>
                  </a:txBody>
                  <a:tcPr marL="54000" marR="54000" marT="24000" marB="24000" anchor="ctr"/>
                </a:tc>
                <a:tc>
                  <a:txBody>
                    <a:bodyPr/>
                    <a:lstStyle/>
                    <a:p>
                      <a:pPr/>
                      <a:r>
                        <a:rPr lang="en-US" sz="1200" dirty="0">
                          <a:latin typeface="Calibri"/>
                        </a:rPr>
                        <a:t>PostgreSQL 16 (run via Docker)</a:t>
                      </a:r>
                    </a:p>
                  </a:txBody>
                  <a:tcPr marL="54000" marR="54000" marT="24000" marB="24000" anchor="ctr"/>
                </a:tc>
              </a:tr>
              <a:tr h="470000">
                <a:tc>
                  <a:txBody>
                    <a:bodyPr/>
                    <a:lstStyle/>
                    <a:p>
                      <a:pPr/>
                      <a:r>
                        <a:rPr lang="en-US" sz="1200" dirty="0">
                          <a:latin typeface="Calibri"/>
                        </a:rPr>
                        <a:t>Backend libraries</a:t>
                      </a:r>
                    </a:p>
                  </a:txBody>
                  <a:tcPr marL="54000" marR="54000" marT="24000" marB="24000" anchor="ctr"/>
                </a:tc>
                <a:tc>
                  <a:txBody>
                    <a:bodyPr/>
                    <a:lstStyle/>
                    <a:p>
                      <a:pPr/>
                      <a:r>
                        <a:rPr lang="en-US" sz="1200" dirty="0">
                          <a:latin typeface="Calibri"/>
                        </a:rPr>
                        <a:t>FastAPI, SQLAlchemy, Pydantic, pytest</a:t>
                      </a:r>
                    </a:p>
                  </a:txBody>
                  <a:tcPr marL="54000" marR="54000" marT="24000" marB="24000" anchor="ctr"/>
                </a:tc>
              </a:tr>
              <a:tr h="470000">
                <a:tc>
                  <a:txBody>
                    <a:bodyPr/>
                    <a:lstStyle/>
                    <a:p>
                      <a:pPr/>
                      <a:r>
                        <a:rPr lang="en-US" sz="1200" dirty="0">
                          <a:latin typeface="Calibri"/>
                        </a:rPr>
                        <a:t>Tools</a:t>
                      </a:r>
                    </a:p>
                  </a:txBody>
                  <a:tcPr marL="54000" marR="54000" marT="24000" marB="24000" anchor="ctr"/>
                </a:tc>
                <a:tc>
                  <a:txBody>
                    <a:bodyPr/>
                    <a:lstStyle/>
                    <a:p>
                      <a:pPr/>
                      <a:r>
                        <a:rPr lang="en-US" sz="1200" dirty="0">
                          <a:latin typeface="Calibri"/>
                        </a:rPr>
                        <a:t>Git + GitHub, VS Code</a:t>
                      </a:r>
                    </a:p>
                  </a:txBody>
                  <a:tcPr marL="54000" marR="54000" marT="24000" marB="24000" anchor="ctr"/>
                </a:tc>
              </a:tr>
              <a:tr h="470000">
                <a:tc>
                  <a:txBody>
                    <a:bodyPr/>
                    <a:lstStyle/>
                    <a:p>
                      <a:pPr/>
                      <a:r>
                        <a:rPr lang="en-US" sz="1200" dirty="0">
                          <a:latin typeface="Calibri"/>
                        </a:rPr>
                        <a:t>Deployment</a:t>
                      </a:r>
                    </a:p>
                  </a:txBody>
                  <a:tcPr marL="54000" marR="54000" marT="24000" marB="24000" anchor="ctr"/>
                </a:tc>
                <a:tc>
                  <a:txBody>
                    <a:bodyPr/>
                    <a:lstStyle/>
                    <a:p>
                      <a:pPr/>
                      <a:r>
                        <a:rPr lang="en-US" sz="1200" dirty="0">
                          <a:latin typeface="Calibri"/>
                        </a:rPr>
                        <a:t>Free-tier cloud: Render (app) + Neon (managed PostgreSQL) — no special hardware</a:t>
                      </a:r>
                    </a:p>
                  </a:txBody>
                  <a:tcPr marL="54000" marR="54000" marT="24000" marB="24000" anchor="ct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720872" y="-122405"/>
            <a:ext cx="9144000" cy="1188720"/>
          </a:xfrm>
          <a:prstGeom prst="rect">
            <a:avLst/>
          </a:prstGeom>
          <a:noFill/>
          <a:ln/>
        </p:spPr>
        <p:txBody>
          <a:bodyPr wrap="square" rtlCol="0" anchor="ctr"/>
          <a:lstStyle/>
          <a:p>
            <a:pPr marL="0" indent="0">
              <a:buNone/>
            </a:pPr>
            <a:r>
              <a:rPr lang="en-US" sz="3200" b="1" dirty="0">
                <a:latin typeface="Cambria" pitchFamily="34" charset="0"/>
                <a:ea typeface="Cambria" pitchFamily="34" charset="-122"/>
                <a:cs typeface="Cambria" pitchFamily="34" charset="-120"/>
              </a:rPr>
              <a:t>Software Design — System Architecture</a:t>
            </a:r>
            <a:endParaRPr lang="en-US" sz="3200" dirty="0"/>
          </a:p>
        </p:txBody>
      </p:sp>
      <p:pic>
        <p:nvPicPr>
          <p:cNvPr id="21" name="Image 0" descr="klh_logo.png">
            <a:extLst>
              <a:ext uri="{FF2B5EF4-FFF2-40B4-BE49-F238E27FC236}">
                <a16:creationId xmlns:a16="http://schemas.microsoft.com/office/drawing/2014/main" id="{818D94E6-D6DF-ECD3-60A4-3FE0A3FBB180}"/>
              </a:ext>
            </a:extLst>
          </p:cNvPr>
          <p:cNvPicPr>
            <a:picLocks noChangeAspect="1"/>
          </p:cNvPicPr>
          <p:nvPr/>
        </p:nvPicPr>
        <p:blipFill>
          <a:blip r:embed="rId3"/>
          <a:stretch>
            <a:fillRect/>
          </a:stretch>
        </p:blipFill>
        <p:spPr>
          <a:xfrm>
            <a:off x="10039265" y="160020"/>
            <a:ext cx="1902045" cy="623871"/>
          </a:xfrm>
          <a:prstGeom prst="rect">
            <a:avLst/>
          </a:prstGeom>
        </p:spPr>
      </p:pic>
      <p:sp>
        <p:nvSpPr>
          <p:cNvPr id="24" name="Body"/>
          <p:cNvSpPr txBox="1"/>
          <p:nvPr/>
        </p:nvSpPr>
        <p:spPr>
          <a:xfrm>
            <a:off x="720872" y="1000000"/>
            <a:ext cx="10890460" cy="900000"/>
          </a:xfrm>
          <a:prstGeom prst="rect">
            <a:avLst/>
          </a:prstGeom>
          <a:noFill/>
        </p:spPr>
        <p:txBody>
          <a:bodyPr wrap="square">
            <a:normAutofit/>
          </a:bodyPr>
          <a:lstStyle/>
          <a:p>
            <a:pPr marL="0" indent="0">
              <a:buNone/>
            </a:pPr>
            <a:r>
              <a:rPr lang="en-US" sz="1400" dirty="0">
                <a:latin typeface="Calibri"/>
              </a:rPr>
              <a:t>End-to-end architecture: client uploads over REST, the engine validates against the data contract, and results are stored in PostgreSQL.</a:t>
            </a:r>
          </a:p>
        </p:txBody>
      </p:sp>
      <p:pic>
        <p:nvPicPr>
          <p:cNvPr id="25" name="Picture 24" descr="Sentinel-Architecture.png"/>
          <p:cNvPicPr>
            <a:picLocks noChangeAspect="1"/>
          </p:cNvPicPr>
          <p:nvPr/>
        </p:nvPicPr>
        <p:blipFill>
          <a:blip r:embed="rId2"/>
          <a:stretch>
            <a:fillRect/>
          </a:stretch>
        </p:blipFill>
        <p:spPr>
          <a:xfrm>
            <a:off x="2456000" y="1950000"/>
            <a:ext cx="7280000" cy="4550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720872" y="-122405"/>
            <a:ext cx="9144000" cy="1188720"/>
          </a:xfrm>
          <a:prstGeom prst="rect">
            <a:avLst/>
          </a:prstGeom>
          <a:noFill/>
          <a:ln/>
        </p:spPr>
        <p:txBody>
          <a:bodyPr wrap="square" rtlCol="0" anchor="ctr"/>
          <a:lstStyle/>
          <a:p>
            <a:pPr marL="0" indent="0">
              <a:buNone/>
            </a:pPr>
            <a:r>
              <a:rPr lang="en-US" sz="3200" b="1" dirty="0">
                <a:latin typeface="Cambria" pitchFamily="34" charset="0"/>
                <a:ea typeface="Cambria" pitchFamily="34" charset="-122"/>
                <a:cs typeface="Cambria" pitchFamily="34" charset="-120"/>
              </a:rPr>
              <a:t>UML — Class Diagram</a:t>
            </a:r>
            <a:endParaRPr lang="en-US" sz="3200" dirty="0"/>
          </a:p>
        </p:txBody>
      </p:sp>
      <p:pic>
        <p:nvPicPr>
          <p:cNvPr id="21" name="Image 0" descr="klh_logo.png">
            <a:extLst>
              <a:ext uri="{FF2B5EF4-FFF2-40B4-BE49-F238E27FC236}">
                <a16:creationId xmlns:a16="http://schemas.microsoft.com/office/drawing/2014/main" id="{818D94E6-D6DF-ECD3-60A4-3FE0A3FBB180}"/>
              </a:ext>
            </a:extLst>
          </p:cNvPr>
          <p:cNvPicPr>
            <a:picLocks noChangeAspect="1"/>
          </p:cNvPicPr>
          <p:nvPr/>
        </p:nvPicPr>
        <p:blipFill>
          <a:blip r:embed="rId3"/>
          <a:stretch>
            <a:fillRect/>
          </a:stretch>
        </p:blipFill>
        <p:spPr>
          <a:xfrm>
            <a:off x="10039265" y="160020"/>
            <a:ext cx="1902045" cy="623871"/>
          </a:xfrm>
          <a:prstGeom prst="rect">
            <a:avLst/>
          </a:prstGeom>
        </p:spPr>
      </p:pic>
      <p:sp>
        <p:nvSpPr>
          <p:cNvPr id="24" name="Body"/>
          <p:cNvSpPr txBox="1"/>
          <p:nvPr/>
        </p:nvSpPr>
        <p:spPr>
          <a:xfrm>
            <a:off x="720872" y="1000000"/>
            <a:ext cx="10890460" cy="900000"/>
          </a:xfrm>
          <a:prstGeom prst="rect">
            <a:avLst/>
          </a:prstGeom>
          <a:noFill/>
        </p:spPr>
        <p:txBody>
          <a:bodyPr wrap="square">
            <a:normAutofit/>
          </a:bodyPr>
          <a:lstStyle/>
          <a:p>
            <a:pPr marL="0" indent="0">
              <a:buNone/>
            </a:pPr>
            <a:r>
              <a:rPr lang="en-US" sz="1400" dirty="0">
                <a:latin typeface="Calibri"/>
              </a:rPr>
              <a:t>Domain model and engine: Dataset and its records, the ValidationRule contract, and the ValidationEngine producing a ValidationResult.</a:t>
            </a:r>
          </a:p>
        </p:txBody>
      </p:sp>
      <p:pic>
        <p:nvPicPr>
          <p:cNvPr id="25" name="Picture 24" descr="uml.png"/>
          <p:cNvPicPr>
            <a:picLocks noChangeAspect="1"/>
          </p:cNvPicPr>
          <p:nvPr/>
        </p:nvPicPr>
        <p:blipFill>
          <a:blip r:embed="rId2"/>
          <a:stretch>
            <a:fillRect/>
          </a:stretch>
        </p:blipFill>
        <p:spPr>
          <a:xfrm>
            <a:off x="2465681" y="1950000"/>
            <a:ext cx="7260638" cy="4550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720872" y="-122405"/>
            <a:ext cx="9144000" cy="1188720"/>
          </a:xfrm>
          <a:prstGeom prst="rect">
            <a:avLst/>
          </a:prstGeom>
          <a:noFill/>
          <a:ln/>
        </p:spPr>
        <p:txBody>
          <a:bodyPr wrap="square" rtlCol="0" anchor="ctr"/>
          <a:lstStyle/>
          <a:p>
            <a:pPr marL="0" indent="0">
              <a:buNone/>
            </a:pPr>
            <a:r>
              <a:rPr lang="en-US" sz="3200" b="1" dirty="0">
                <a:latin typeface="Cambria" pitchFamily="34" charset="0"/>
                <a:ea typeface="Cambria" pitchFamily="34" charset="-122"/>
                <a:cs typeface="Cambria" pitchFamily="34" charset="-120"/>
              </a:rPr>
              <a:t>Implementation</a:t>
            </a:r>
            <a:endParaRPr lang="en-US" sz="3200" dirty="0"/>
          </a:p>
        </p:txBody>
      </p:sp>
      <p:pic>
        <p:nvPicPr>
          <p:cNvPr id="21" name="Image 0" descr="klh_logo.png">
            <a:extLst>
              <a:ext uri="{FF2B5EF4-FFF2-40B4-BE49-F238E27FC236}">
                <a16:creationId xmlns:a16="http://schemas.microsoft.com/office/drawing/2014/main" id="{818D94E6-D6DF-ECD3-60A4-3FE0A3FBB180}"/>
              </a:ext>
            </a:extLst>
          </p:cNvPr>
          <p:cNvPicPr>
            <a:picLocks noChangeAspect="1"/>
          </p:cNvPicPr>
          <p:nvPr/>
        </p:nvPicPr>
        <p:blipFill>
          <a:blip r:embed="rId3"/>
          <a:stretch>
            <a:fillRect/>
          </a:stretch>
        </p:blipFill>
        <p:spPr>
          <a:xfrm>
            <a:off x="10039265" y="160020"/>
            <a:ext cx="1902045" cy="623871"/>
          </a:xfrm>
          <a:prstGeom prst="rect">
            <a:avLst/>
          </a:prstGeom>
        </p:spPr>
      </p:pic>
      <p:sp>
        <p:nvSpPr>
          <p:cNvPr id="24" name="Body"/>
          <p:cNvSpPr txBox="1"/>
          <p:nvPr/>
        </p:nvSpPr>
        <p:spPr>
          <a:xfrm>
            <a:off x="720872" y="1100000"/>
            <a:ext cx="10890460" cy="1200000"/>
          </a:xfrm>
          <a:prstGeom prst="rect">
            <a:avLst/>
          </a:prstGeom>
          <a:noFill/>
        </p:spPr>
        <p:txBody>
          <a:bodyPr wrap="square">
            <a:normAutofit/>
          </a:bodyPr>
          <a:lstStyle/>
          <a:p>
            <a:pPr marL="0" indent="0">
              <a:buNone/>
            </a:pPr>
            <a:r>
              <a:rPr lang="en-US" sz="1500" dirty="0">
                <a:latin typeface="Calibri"/>
              </a:rPr>
              <a:t>Screenshots: Swagger API (/docs), a validation run, and the dashboard.</a:t>
            </a:r>
          </a:p>
          <a:p>
            <a:pPr marL="0" indent="0">
              <a:buNone/>
            </a:pPr>
            <a:endParaRPr lang="en-US" sz="700"/>
          </a:p>
          <a:p>
            <a:pPr marL="0" indent="0">
              <a:buNone/>
            </a:pPr>
            <a:r>
              <a:rPr lang="en-US" sz="1400" dirty="0">
                <a:latin typeface="Calibri"/>
              </a:rPr>
              <a:t>[ add screenshots here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720872" y="-122405"/>
            <a:ext cx="9144000" cy="1188720"/>
          </a:xfrm>
          <a:prstGeom prst="rect">
            <a:avLst/>
          </a:prstGeom>
          <a:noFill/>
          <a:ln/>
        </p:spPr>
        <p:txBody>
          <a:bodyPr wrap="square" rtlCol="0" anchor="ctr"/>
          <a:lstStyle/>
          <a:p>
            <a:pPr marL="0" indent="0">
              <a:buNone/>
            </a:pPr>
            <a:r>
              <a:rPr lang="en-US" sz="3200" b="1" dirty="0">
                <a:latin typeface="Cambria" pitchFamily="34" charset="0"/>
                <a:ea typeface="Cambria" pitchFamily="34" charset="-122"/>
                <a:cs typeface="Cambria" pitchFamily="34" charset="-120"/>
              </a:rPr>
              <a:t>Implementation — Architecture</a:t>
            </a:r>
            <a:endParaRPr lang="en-US" sz="3200" dirty="0"/>
          </a:p>
        </p:txBody>
      </p:sp>
      <p:pic>
        <p:nvPicPr>
          <p:cNvPr id="21" name="Image 0" descr="klh_logo.png">
            <a:extLst>
              <a:ext uri="{FF2B5EF4-FFF2-40B4-BE49-F238E27FC236}">
                <a16:creationId xmlns:a16="http://schemas.microsoft.com/office/drawing/2014/main" id="{818D94E6-D6DF-ECD3-60A4-3FE0A3FBB180}"/>
              </a:ext>
            </a:extLst>
          </p:cNvPr>
          <p:cNvPicPr>
            <a:picLocks noChangeAspect="1"/>
          </p:cNvPicPr>
          <p:nvPr/>
        </p:nvPicPr>
        <p:blipFill>
          <a:blip r:embed="rId3"/>
          <a:stretch>
            <a:fillRect/>
          </a:stretch>
        </p:blipFill>
        <p:spPr>
          <a:xfrm>
            <a:off x="10039265" y="160020"/>
            <a:ext cx="1902045" cy="623871"/>
          </a:xfrm>
          <a:prstGeom prst="rect">
            <a:avLst/>
          </a:prstGeom>
        </p:spPr>
      </p:pic>
      <p:sp>
        <p:nvSpPr>
          <p:cNvPr id="24" name="Body"/>
          <p:cNvSpPr txBox="1"/>
          <p:nvPr/>
        </p:nvSpPr>
        <p:spPr>
          <a:xfrm>
            <a:off x="720872" y="1100000"/>
            <a:ext cx="10890460" cy="1200000"/>
          </a:xfrm>
          <a:prstGeom prst="rect">
            <a:avLst/>
          </a:prstGeom>
          <a:noFill/>
        </p:spPr>
        <p:txBody>
          <a:bodyPr wrap="square">
            <a:normAutofit/>
          </a:bodyPr>
          <a:lstStyle/>
          <a:p>
            <a:pPr marL="0" indent="0">
              <a:buNone/>
            </a:pPr>
            <a:r>
              <a:rPr lang="en-US" sz="1500" dirty="0">
                <a:latin typeface="Calibri"/>
              </a:rPr>
              <a:t>Screenshots: containers running (Docker), API + database wired, endpoints live.</a:t>
            </a:r>
          </a:p>
          <a:p>
            <a:pPr marL="0" indent="0">
              <a:buNone/>
            </a:pPr>
            <a:endParaRPr lang="en-US" sz="700"/>
          </a:p>
          <a:p>
            <a:pPr marL="0" indent="0">
              <a:buNone/>
            </a:pPr>
            <a:r>
              <a:rPr lang="en-US" sz="1400" dirty="0">
                <a:latin typeface="Calibri"/>
              </a:rPr>
              <a:t>[ add screenshots here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720872" y="-122405"/>
            <a:ext cx="9144000" cy="1188720"/>
          </a:xfrm>
          <a:prstGeom prst="rect">
            <a:avLst/>
          </a:prstGeom>
          <a:noFill/>
          <a:ln/>
        </p:spPr>
        <p:txBody>
          <a:bodyPr wrap="square" rtlCol="0" anchor="ctr"/>
          <a:lstStyle/>
          <a:p>
            <a:pPr marL="0" indent="0">
              <a:buNone/>
            </a:pPr>
            <a:r>
              <a:rPr lang="en-US" sz="3200" b="1" dirty="0">
                <a:latin typeface="Cambria" pitchFamily="34" charset="0"/>
                <a:ea typeface="Cambria" pitchFamily="34" charset="-122"/>
                <a:cs typeface="Cambria" pitchFamily="34" charset="-120"/>
              </a:rPr>
              <a:t>Results</a:t>
            </a:r>
            <a:endParaRPr lang="en-US" sz="3200" dirty="0"/>
          </a:p>
        </p:txBody>
      </p:sp>
      <p:pic>
        <p:nvPicPr>
          <p:cNvPr id="21" name="Image 0" descr="klh_logo.png">
            <a:extLst>
              <a:ext uri="{FF2B5EF4-FFF2-40B4-BE49-F238E27FC236}">
                <a16:creationId xmlns:a16="http://schemas.microsoft.com/office/drawing/2014/main" id="{818D94E6-D6DF-ECD3-60A4-3FE0A3FBB180}"/>
              </a:ext>
            </a:extLst>
          </p:cNvPr>
          <p:cNvPicPr>
            <a:picLocks noChangeAspect="1"/>
          </p:cNvPicPr>
          <p:nvPr/>
        </p:nvPicPr>
        <p:blipFill>
          <a:blip r:embed="rId3"/>
          <a:stretch>
            <a:fillRect/>
          </a:stretch>
        </p:blipFill>
        <p:spPr>
          <a:xfrm>
            <a:off x="10039265" y="160020"/>
            <a:ext cx="1902045" cy="623871"/>
          </a:xfrm>
          <a:prstGeom prst="rect">
            <a:avLst/>
          </a:prstGeom>
        </p:spPr>
      </p:pic>
      <p:sp>
        <p:nvSpPr>
          <p:cNvPr id="24" name="Body"/>
          <p:cNvSpPr txBox="1"/>
          <p:nvPr/>
        </p:nvSpPr>
        <p:spPr>
          <a:xfrm>
            <a:off x="720872" y="1100000"/>
            <a:ext cx="10890460" cy="1200000"/>
          </a:xfrm>
          <a:prstGeom prst="rect">
            <a:avLst/>
          </a:prstGeom>
          <a:noFill/>
        </p:spPr>
        <p:txBody>
          <a:bodyPr wrap="square">
            <a:normAutofit/>
          </a:bodyPr>
          <a:lstStyle/>
          <a:p>
            <a:pPr marL="0" indent="0">
              <a:buNone/>
            </a:pPr>
            <a:r>
              <a:rPr lang="en-US" sz="1500" dirty="0">
                <a:latin typeface="Calibri"/>
              </a:rPr>
              <a:t>Add validation-run results: total rows, valid, invalid, health score, most common error.</a:t>
            </a:r>
          </a:p>
          <a:p>
            <a:pPr marL="0" indent="0">
              <a:buNone/>
            </a:pPr>
            <a:endParaRPr lang="en-US" sz="700"/>
          </a:p>
          <a:p>
            <a:pPr marL="0" indent="0">
              <a:buNone/>
            </a:pPr>
            <a:r>
              <a:rPr lang="en-US" sz="1400" dirty="0">
                <a:latin typeface="Calibri"/>
              </a:rPr>
              <a:t>[ add screenshots here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720872" y="-122405"/>
            <a:ext cx="9144000" cy="1188720"/>
          </a:xfrm>
          <a:prstGeom prst="rect">
            <a:avLst/>
          </a:prstGeom>
          <a:noFill/>
          <a:ln/>
        </p:spPr>
        <p:txBody>
          <a:bodyPr wrap="square" rtlCol="0" anchor="ctr"/>
          <a:lstStyle/>
          <a:p>
            <a:pPr marL="0" indent="0">
              <a:buNone/>
            </a:pPr>
            <a:r>
              <a:rPr lang="en-US" sz="3200" b="1" dirty="0">
                <a:latin typeface="Cambria" pitchFamily="34" charset="0"/>
                <a:ea typeface="Cambria" pitchFamily="34" charset="-122"/>
                <a:cs typeface="Cambria" pitchFamily="34" charset="-120"/>
              </a:rPr>
              <a:t>Comparison</a:t>
            </a:r>
            <a:endParaRPr lang="en-US" sz="3200" dirty="0"/>
          </a:p>
        </p:txBody>
      </p:sp>
      <p:pic>
        <p:nvPicPr>
          <p:cNvPr id="21" name="Image 0" descr="klh_logo.png">
            <a:extLst>
              <a:ext uri="{FF2B5EF4-FFF2-40B4-BE49-F238E27FC236}">
                <a16:creationId xmlns:a16="http://schemas.microsoft.com/office/drawing/2014/main" id="{818D94E6-D6DF-ECD3-60A4-3FE0A3FBB180}"/>
              </a:ext>
            </a:extLst>
          </p:cNvPr>
          <p:cNvPicPr>
            <a:picLocks noChangeAspect="1"/>
          </p:cNvPicPr>
          <p:nvPr/>
        </p:nvPicPr>
        <p:blipFill>
          <a:blip r:embed="rId3"/>
          <a:stretch>
            <a:fillRect/>
          </a:stretch>
        </p:blipFill>
        <p:spPr>
          <a:xfrm>
            <a:off x="10039265" y="160020"/>
            <a:ext cx="1902045" cy="623871"/>
          </a:xfrm>
          <a:prstGeom prst="rect">
            <a:avLst/>
          </a:prstGeom>
        </p:spPr>
      </p:pic>
      <p:graphicFrame>
        <p:nvGraphicFramePr>
          <p:cNvPr id="40" name="Tbl"/>
          <p:cNvGraphicFramePr/>
          <p:nvPr/>
        </p:nvGraphicFramePr>
        <p:xfrm>
          <a:off x="720872" y="1000000"/>
          <a:ext cx="10890460" cy="5000000"/>
        </p:xfrm>
        <a:graphic>
          <a:graphicData uri="http://schemas.openxmlformats.org/drawingml/2006/table">
            <a:tbl>
              <a:tblPr firstRow="1">
                <a:tableStyleId>{5940675A-B579-460E-94D1-54222C63F5DA}</a:tableStyleId>
              </a:tblPr>
              <a:tblGrid>
                <a:gridCol w="2650000"/>
                <a:gridCol w="2060000"/>
                <a:gridCol w="2060000"/>
                <a:gridCol w="2060000"/>
                <a:gridCol w="2060460"/>
              </a:tblGrid>
              <a:tr h="420000">
                <a:tc>
                  <a:txBody>
                    <a:bodyPr/>
                    <a:lstStyle/>
                    <a:p>
                      <a:pPr algn="ctr"/>
                      <a:r>
                        <a:rPr lang="en-US" sz="1150" b="1" dirty="0">
                          <a:solidFill>
                            <a:srgbClr val="FFFFFF"/>
                          </a:solidFill>
                          <a:latin typeface="Cambria"/>
                        </a:rPr>
                        <a:t>Aspect</a:t>
                      </a:r>
                    </a:p>
                  </a:txBody>
                  <a:tcPr marL="54000" marR="54000" marT="24000" marB="24000" anchor="ctr">
                    <a:solidFill>
                      <a:srgbClr val="8C1D40"/>
                    </a:solidFill>
                  </a:tcPr>
                </a:tc>
                <a:tc>
                  <a:txBody>
                    <a:bodyPr/>
                    <a:lstStyle/>
                    <a:p>
                      <a:pPr algn="ctr"/>
                      <a:r>
                        <a:rPr lang="en-US" sz="1150" b="1" dirty="0">
                          <a:solidFill>
                            <a:srgbClr val="FFFFFF"/>
                          </a:solidFill>
                          <a:latin typeface="Cambria"/>
                        </a:rPr>
                        <a:t>Sentinel</a:t>
                      </a:r>
                    </a:p>
                  </a:txBody>
                  <a:tcPr marL="54000" marR="54000" marT="24000" marB="24000" anchor="ctr">
                    <a:solidFill>
                      <a:srgbClr val="8C1D40"/>
                    </a:solidFill>
                  </a:tcPr>
                </a:tc>
                <a:tc>
                  <a:txBody>
                    <a:bodyPr/>
                    <a:lstStyle/>
                    <a:p>
                      <a:pPr algn="ctr"/>
                      <a:r>
                        <a:rPr lang="en-US" sz="1150" b="1" dirty="0">
                          <a:solidFill>
                            <a:srgbClr val="FFFFFF"/>
                          </a:solidFill>
                          <a:latin typeface="Cambria"/>
                        </a:rPr>
                        <a:t>Deequ</a:t>
                      </a:r>
                    </a:p>
                  </a:txBody>
                  <a:tcPr marL="54000" marR="54000" marT="24000" marB="24000" anchor="ctr">
                    <a:solidFill>
                      <a:srgbClr val="8C1D40"/>
                    </a:solidFill>
                  </a:tcPr>
                </a:tc>
                <a:tc>
                  <a:txBody>
                    <a:bodyPr/>
                    <a:lstStyle/>
                    <a:p>
                      <a:pPr algn="ctr"/>
                      <a:r>
                        <a:rPr lang="en-US" sz="1150" b="1" dirty="0">
                          <a:solidFill>
                            <a:srgbClr val="FFFFFF"/>
                          </a:solidFill>
                          <a:latin typeface="Cambria"/>
                        </a:rPr>
                        <a:t>TFDV</a:t>
                      </a:r>
                    </a:p>
                  </a:txBody>
                  <a:tcPr marL="54000" marR="54000" marT="24000" marB="24000" anchor="ctr">
                    <a:solidFill>
                      <a:srgbClr val="8C1D40"/>
                    </a:solidFill>
                  </a:tcPr>
                </a:tc>
                <a:tc>
                  <a:txBody>
                    <a:bodyPr/>
                    <a:lstStyle/>
                    <a:p>
                      <a:pPr algn="ctr"/>
                      <a:r>
                        <a:rPr lang="en-US" sz="1150" b="1" dirty="0">
                          <a:solidFill>
                            <a:srgbClr val="FFFFFF"/>
                          </a:solidFill>
                          <a:latin typeface="Cambria"/>
                        </a:rPr>
                        <a:t>Great Expectations</a:t>
                      </a:r>
                    </a:p>
                  </a:txBody>
                  <a:tcPr marL="54000" marR="54000" marT="24000" marB="24000" anchor="ctr">
                    <a:solidFill>
                      <a:srgbClr val="8C1D40"/>
                    </a:solidFill>
                  </a:tcPr>
                </a:tc>
              </a:tr>
              <a:tr h="520000">
                <a:tc>
                  <a:txBody>
                    <a:bodyPr/>
                    <a:lstStyle/>
                    <a:p>
                      <a:pPr/>
                      <a:r>
                        <a:rPr lang="en-US" sz="1050" dirty="0">
                          <a:latin typeface="Calibri"/>
                        </a:rPr>
                        <a:t>Approach</a:t>
                      </a:r>
                    </a:p>
                  </a:txBody>
                  <a:tcPr marL="54000" marR="54000" marT="24000" marB="24000" anchor="ctr"/>
                </a:tc>
                <a:tc>
                  <a:txBody>
                    <a:bodyPr/>
                    <a:lstStyle/>
                    <a:p>
                      <a:pPr/>
                      <a:r>
                        <a:rPr lang="en-US" sz="1050" dirty="0">
                          <a:latin typeface="Calibri"/>
                        </a:rPr>
                        <a:t>Declarative contracts</a:t>
                      </a:r>
                    </a:p>
                  </a:txBody>
                  <a:tcPr marL="54000" marR="54000" marT="24000" marB="24000" anchor="ctr"/>
                </a:tc>
                <a:tc>
                  <a:txBody>
                    <a:bodyPr/>
                    <a:lstStyle/>
                    <a:p>
                      <a:pPr/>
                      <a:r>
                        <a:rPr lang="en-US" sz="1050" dirty="0">
                          <a:latin typeface="Calibri"/>
                        </a:rPr>
                        <a:t>Declarative constraints</a:t>
                      </a:r>
                    </a:p>
                  </a:txBody>
                  <a:tcPr marL="54000" marR="54000" marT="24000" marB="24000" anchor="ctr"/>
                </a:tc>
                <a:tc>
                  <a:txBody>
                    <a:bodyPr/>
                    <a:lstStyle/>
                    <a:p>
                      <a:pPr/>
                      <a:r>
                        <a:rPr lang="en-US" sz="1050" dirty="0">
                          <a:latin typeface="Calibri"/>
                        </a:rPr>
                        <a:t>Schema-based</a:t>
                      </a:r>
                    </a:p>
                  </a:txBody>
                  <a:tcPr marL="54000" marR="54000" marT="24000" marB="24000" anchor="ctr"/>
                </a:tc>
                <a:tc>
                  <a:txBody>
                    <a:bodyPr/>
                    <a:lstStyle/>
                    <a:p>
                      <a:pPr/>
                      <a:r>
                        <a:rPr lang="en-US" sz="1050" dirty="0">
                          <a:latin typeface="Calibri"/>
                        </a:rPr>
                        <a:t>Expectation suites</a:t>
                      </a:r>
                    </a:p>
                  </a:txBody>
                  <a:tcPr marL="54000" marR="54000" marT="24000" marB="24000" anchor="ctr"/>
                </a:tc>
              </a:tr>
              <a:tr h="520000">
                <a:tc>
                  <a:txBody>
                    <a:bodyPr/>
                    <a:lstStyle/>
                    <a:p>
                      <a:pPr/>
                      <a:r>
                        <a:rPr lang="en-US" sz="1050" dirty="0">
                          <a:latin typeface="Calibri"/>
                        </a:rPr>
                        <a:t>Infrastructure</a:t>
                      </a:r>
                    </a:p>
                  </a:txBody>
                  <a:tcPr marL="54000" marR="54000" marT="24000" marB="24000" anchor="ctr"/>
                </a:tc>
                <a:tc>
                  <a:txBody>
                    <a:bodyPr/>
                    <a:lstStyle/>
                    <a:p>
                      <a:pPr/>
                      <a:r>
                        <a:rPr lang="en-US" sz="1050" dirty="0">
                          <a:latin typeface="Calibri"/>
                        </a:rPr>
                        <a:t>Docker only</a:t>
                      </a:r>
                    </a:p>
                  </a:txBody>
                  <a:tcPr marL="54000" marR="54000" marT="24000" marB="24000" anchor="ctr"/>
                </a:tc>
                <a:tc>
                  <a:txBody>
                    <a:bodyPr/>
                    <a:lstStyle/>
                    <a:p>
                      <a:pPr/>
                      <a:r>
                        <a:rPr lang="en-US" sz="1050" dirty="0">
                          <a:latin typeface="Calibri"/>
                        </a:rPr>
                        <a:t>Spark</a:t>
                      </a:r>
                    </a:p>
                  </a:txBody>
                  <a:tcPr marL="54000" marR="54000" marT="24000" marB="24000" anchor="ctr"/>
                </a:tc>
                <a:tc>
                  <a:txBody>
                    <a:bodyPr/>
                    <a:lstStyle/>
                    <a:p>
                      <a:pPr/>
                      <a:r>
                        <a:rPr lang="en-US" sz="1050" dirty="0">
                          <a:latin typeface="Calibri"/>
                        </a:rPr>
                        <a:t>TensorFlow/TFX</a:t>
                      </a:r>
                    </a:p>
                  </a:txBody>
                  <a:tcPr marL="54000" marR="54000" marT="24000" marB="24000" anchor="ctr"/>
                </a:tc>
                <a:tc>
                  <a:txBody>
                    <a:bodyPr/>
                    <a:lstStyle/>
                    <a:p>
                      <a:pPr/>
                      <a:r>
                        <a:rPr lang="en-US" sz="1050" dirty="0">
                          <a:latin typeface="Calibri"/>
                        </a:rPr>
                        <a:t>Python</a:t>
                      </a:r>
                    </a:p>
                  </a:txBody>
                  <a:tcPr marL="54000" marR="54000" marT="24000" marB="24000" anchor="ctr"/>
                </a:tc>
              </a:tr>
              <a:tr h="520000">
                <a:tc>
                  <a:txBody>
                    <a:bodyPr/>
                    <a:lstStyle/>
                    <a:p>
                      <a:pPr/>
                      <a:r>
                        <a:rPr lang="en-US" sz="1050" dirty="0">
                          <a:latin typeface="Calibri"/>
                        </a:rPr>
                        <a:t>Per-row failure reason</a:t>
                      </a:r>
                    </a:p>
                  </a:txBody>
                  <a:tcPr marL="54000" marR="54000" marT="24000" marB="24000" anchor="ctr"/>
                </a:tc>
                <a:tc>
                  <a:txBody>
                    <a:bodyPr/>
                    <a:lstStyle/>
                    <a:p>
                      <a:pPr/>
                      <a:r>
                        <a:rPr lang="en-US" sz="1050" dirty="0">
                          <a:latin typeface="Calibri"/>
                        </a:rPr>
                        <a:t>Yes</a:t>
                      </a:r>
                    </a:p>
                  </a:txBody>
                  <a:tcPr marL="54000" marR="54000" marT="24000" marB="24000" anchor="ctr"/>
                </a:tc>
                <a:tc>
                  <a:txBody>
                    <a:bodyPr/>
                    <a:lstStyle/>
                    <a:p>
                      <a:pPr/>
                      <a:r>
                        <a:rPr lang="en-US" sz="1050" dirty="0">
                          <a:latin typeface="Calibri"/>
                        </a:rPr>
                        <a:t>Limited</a:t>
                      </a:r>
                    </a:p>
                  </a:txBody>
                  <a:tcPr marL="54000" marR="54000" marT="24000" marB="24000" anchor="ctr"/>
                </a:tc>
                <a:tc>
                  <a:txBody>
                    <a:bodyPr/>
                    <a:lstStyle/>
                    <a:p>
                      <a:pPr/>
                      <a:r>
                        <a:rPr lang="en-US" sz="1050" dirty="0">
                          <a:latin typeface="Calibri"/>
                        </a:rPr>
                        <a:t>Limited</a:t>
                      </a:r>
                    </a:p>
                  </a:txBody>
                  <a:tcPr marL="54000" marR="54000" marT="24000" marB="24000" anchor="ctr"/>
                </a:tc>
                <a:tc>
                  <a:txBody>
                    <a:bodyPr/>
                    <a:lstStyle/>
                    <a:p>
                      <a:pPr/>
                      <a:r>
                        <a:rPr lang="en-US" sz="1050" dirty="0">
                          <a:latin typeface="Calibri"/>
                        </a:rPr>
                        <a:t>Partial</a:t>
                      </a:r>
                    </a:p>
                  </a:txBody>
                  <a:tcPr marL="54000" marR="54000" marT="24000" marB="24000" anchor="ctr"/>
                </a:tc>
              </a:tr>
              <a:tr h="520000">
                <a:tc>
                  <a:txBody>
                    <a:bodyPr/>
                    <a:lstStyle/>
                    <a:p>
                      <a:pPr/>
                      <a:r>
                        <a:rPr lang="en-US" sz="1050" dirty="0">
                          <a:latin typeface="Calibri"/>
                        </a:rPr>
                        <a:t>Quarantine bad rows</a:t>
                      </a:r>
                    </a:p>
                  </a:txBody>
                  <a:tcPr marL="54000" marR="54000" marT="24000" marB="24000" anchor="ctr"/>
                </a:tc>
                <a:tc>
                  <a:txBody>
                    <a:bodyPr/>
                    <a:lstStyle/>
                    <a:p>
                      <a:pPr/>
                      <a:r>
                        <a:rPr lang="en-US" sz="1050" dirty="0">
                          <a:latin typeface="Calibri"/>
                        </a:rPr>
                        <a:t>Yes</a:t>
                      </a:r>
                    </a:p>
                  </a:txBody>
                  <a:tcPr marL="54000" marR="54000" marT="24000" marB="24000" anchor="ctr"/>
                </a:tc>
                <a:tc>
                  <a:txBody>
                    <a:bodyPr/>
                    <a:lstStyle/>
                    <a:p>
                      <a:pPr/>
                      <a:r>
                        <a:rPr lang="en-US" sz="1050" dirty="0">
                          <a:latin typeface="Calibri"/>
                        </a:rPr>
                        <a:t>No</a:t>
                      </a:r>
                    </a:p>
                  </a:txBody>
                  <a:tcPr marL="54000" marR="54000" marT="24000" marB="24000" anchor="ctr"/>
                </a:tc>
                <a:tc>
                  <a:txBody>
                    <a:bodyPr/>
                    <a:lstStyle/>
                    <a:p>
                      <a:pPr/>
                      <a:r>
                        <a:rPr lang="en-US" sz="1050" dirty="0">
                          <a:latin typeface="Calibri"/>
                        </a:rPr>
                        <a:t>No</a:t>
                      </a:r>
                    </a:p>
                  </a:txBody>
                  <a:tcPr marL="54000" marR="54000" marT="24000" marB="24000" anchor="ctr"/>
                </a:tc>
                <a:tc>
                  <a:txBody>
                    <a:bodyPr/>
                    <a:lstStyle/>
                    <a:p>
                      <a:pPr/>
                      <a:r>
                        <a:rPr lang="en-US" sz="1050" dirty="0">
                          <a:latin typeface="Calibri"/>
                        </a:rPr>
                        <a:t>No</a:t>
                      </a:r>
                    </a:p>
                  </a:txBody>
                  <a:tcPr marL="54000" marR="54000" marT="24000" marB="24000" anchor="ctr"/>
                </a:tc>
              </a:tr>
              <a:tr h="520000">
                <a:tc>
                  <a:txBody>
                    <a:bodyPr/>
                    <a:lstStyle/>
                    <a:p>
                      <a:pPr/>
                      <a:r>
                        <a:rPr lang="en-US" sz="1050" dirty="0">
                          <a:latin typeface="Calibri"/>
                        </a:rPr>
                        <a:t>Health score</a:t>
                      </a:r>
                    </a:p>
                  </a:txBody>
                  <a:tcPr marL="54000" marR="54000" marT="24000" marB="24000" anchor="ctr"/>
                </a:tc>
                <a:tc>
                  <a:txBody>
                    <a:bodyPr/>
                    <a:lstStyle/>
                    <a:p>
                      <a:pPr/>
                      <a:r>
                        <a:rPr lang="en-US" sz="1050" dirty="0">
                          <a:latin typeface="Calibri"/>
                        </a:rPr>
                        <a:t>Yes</a:t>
                      </a:r>
                    </a:p>
                  </a:txBody>
                  <a:tcPr marL="54000" marR="54000" marT="24000" marB="24000" anchor="ctr"/>
                </a:tc>
                <a:tc>
                  <a:txBody>
                    <a:bodyPr/>
                    <a:lstStyle/>
                    <a:p>
                      <a:pPr/>
                      <a:r>
                        <a:rPr lang="en-US" sz="1050" dirty="0">
                          <a:latin typeface="Calibri"/>
                        </a:rPr>
                        <a:t>Metrics</a:t>
                      </a:r>
                    </a:p>
                  </a:txBody>
                  <a:tcPr marL="54000" marR="54000" marT="24000" marB="24000" anchor="ctr"/>
                </a:tc>
                <a:tc>
                  <a:txBody>
                    <a:bodyPr/>
                    <a:lstStyle/>
                    <a:p>
                      <a:pPr/>
                      <a:r>
                        <a:rPr lang="en-US" sz="1050" dirty="0">
                          <a:latin typeface="Calibri"/>
                        </a:rPr>
                        <a:t>Anomalies</a:t>
                      </a:r>
                    </a:p>
                  </a:txBody>
                  <a:tcPr marL="54000" marR="54000" marT="24000" marB="24000" anchor="ctr"/>
                </a:tc>
                <a:tc>
                  <a:txBody>
                    <a:bodyPr/>
                    <a:lstStyle/>
                    <a:p>
                      <a:pPr/>
                      <a:r>
                        <a:rPr lang="en-US" sz="1050" dirty="0">
                          <a:latin typeface="Calibri"/>
                        </a:rPr>
                        <a:t>Validation results</a:t>
                      </a:r>
                    </a:p>
                  </a:txBody>
                  <a:tcPr marL="54000" marR="54000" marT="24000" marB="24000" anchor="ctr"/>
                </a:tc>
              </a:tr>
              <a:tr h="520000">
                <a:tc>
                  <a:txBody>
                    <a:bodyPr/>
                    <a:lstStyle/>
                    <a:p>
                      <a:pPr/>
                      <a:r>
                        <a:rPr lang="en-US" sz="1050" dirty="0">
                          <a:latin typeface="Calibri"/>
                        </a:rPr>
                        <a:t>REST API + dashboard</a:t>
                      </a:r>
                    </a:p>
                  </a:txBody>
                  <a:tcPr marL="54000" marR="54000" marT="24000" marB="24000" anchor="ctr"/>
                </a:tc>
                <a:tc>
                  <a:txBody>
                    <a:bodyPr/>
                    <a:lstStyle/>
                    <a:p>
                      <a:pPr/>
                      <a:r>
                        <a:rPr lang="en-US" sz="1050" dirty="0">
                          <a:latin typeface="Calibri"/>
                        </a:rPr>
                        <a:t>Yes</a:t>
                      </a:r>
                    </a:p>
                  </a:txBody>
                  <a:tcPr marL="54000" marR="54000" marT="24000" marB="24000" anchor="ctr"/>
                </a:tc>
                <a:tc>
                  <a:txBody>
                    <a:bodyPr/>
                    <a:lstStyle/>
                    <a:p>
                      <a:pPr/>
                      <a:r>
                        <a:rPr lang="en-US" sz="1050" dirty="0">
                          <a:latin typeface="Calibri"/>
                        </a:rPr>
                        <a:t>No</a:t>
                      </a:r>
                    </a:p>
                  </a:txBody>
                  <a:tcPr marL="54000" marR="54000" marT="24000" marB="24000" anchor="ctr"/>
                </a:tc>
                <a:tc>
                  <a:txBody>
                    <a:bodyPr/>
                    <a:lstStyle/>
                    <a:p>
                      <a:pPr/>
                      <a:r>
                        <a:rPr lang="en-US" sz="1050" dirty="0">
                          <a:latin typeface="Calibri"/>
                        </a:rPr>
                        <a:t>No</a:t>
                      </a:r>
                    </a:p>
                  </a:txBody>
                  <a:tcPr marL="54000" marR="54000" marT="24000" marB="24000" anchor="ctr"/>
                </a:tc>
                <a:tc>
                  <a:txBody>
                    <a:bodyPr/>
                    <a:lstStyle/>
                    <a:p>
                      <a:pPr/>
                      <a:r>
                        <a:rPr lang="en-US" sz="1050" dirty="0">
                          <a:latin typeface="Calibri"/>
                        </a:rPr>
                        <a:t>Partial</a:t>
                      </a:r>
                    </a:p>
                  </a:txBody>
                  <a:tcPr marL="54000" marR="54000" marT="24000" marB="24000" anchor="ctr"/>
                </a:tc>
              </a:tr>
              <a:tr h="520000">
                <a:tc>
                  <a:txBody>
                    <a:bodyPr/>
                    <a:lstStyle/>
                    <a:p>
                      <a:pPr/>
                      <a:r>
                        <a:rPr lang="en-US" sz="1050" dirty="0">
                          <a:latin typeface="Calibri"/>
                        </a:rPr>
                        <a:t>Ease of adoption</a:t>
                      </a:r>
                    </a:p>
                  </a:txBody>
                  <a:tcPr marL="54000" marR="54000" marT="24000" marB="24000" anchor="ctr"/>
                </a:tc>
                <a:tc>
                  <a:txBody>
                    <a:bodyPr/>
                    <a:lstStyle/>
                    <a:p>
                      <a:pPr/>
                      <a:r>
                        <a:rPr lang="en-US" sz="1050" dirty="0">
                          <a:latin typeface="Calibri"/>
                        </a:rPr>
                        <a:t>High</a:t>
                      </a:r>
                    </a:p>
                  </a:txBody>
                  <a:tcPr marL="54000" marR="54000" marT="24000" marB="24000" anchor="ctr"/>
                </a:tc>
                <a:tc>
                  <a:txBody>
                    <a:bodyPr/>
                    <a:lstStyle/>
                    <a:p>
                      <a:pPr/>
                      <a:r>
                        <a:rPr lang="en-US" sz="1050" dirty="0">
                          <a:latin typeface="Calibri"/>
                        </a:rPr>
                        <a:t>Medium</a:t>
                      </a:r>
                    </a:p>
                  </a:txBody>
                  <a:tcPr marL="54000" marR="54000" marT="24000" marB="24000" anchor="ctr"/>
                </a:tc>
                <a:tc>
                  <a:txBody>
                    <a:bodyPr/>
                    <a:lstStyle/>
                    <a:p>
                      <a:pPr/>
                      <a:r>
                        <a:rPr lang="en-US" sz="1050" dirty="0">
                          <a:latin typeface="Calibri"/>
                        </a:rPr>
                        <a:t>Low</a:t>
                      </a:r>
                    </a:p>
                  </a:txBody>
                  <a:tcPr marL="54000" marR="54000" marT="24000" marB="24000" anchor="ctr"/>
                </a:tc>
                <a:tc>
                  <a:txBody>
                    <a:bodyPr/>
                    <a:lstStyle/>
                    <a:p>
                      <a:pPr/>
                      <a:r>
                        <a:rPr lang="en-US" sz="1050" dirty="0">
                          <a:latin typeface="Calibri"/>
                        </a:rPr>
                        <a:t>Medium</a:t>
                      </a:r>
                    </a:p>
                  </a:txBody>
                  <a:tcPr marL="54000" marR="54000" marT="24000" marB="24000" anchor="ct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720872" y="-122405"/>
            <a:ext cx="9144000" cy="1188720"/>
          </a:xfrm>
          <a:prstGeom prst="rect">
            <a:avLst/>
          </a:prstGeom>
          <a:noFill/>
          <a:ln/>
        </p:spPr>
        <p:txBody>
          <a:bodyPr wrap="square" rtlCol="0" anchor="ctr"/>
          <a:lstStyle/>
          <a:p>
            <a:pPr marL="0" indent="0">
              <a:buNone/>
            </a:pPr>
            <a:r>
              <a:rPr lang="en-US" sz="3200" b="1" dirty="0">
                <a:latin typeface="Cambria" pitchFamily="34" charset="0"/>
                <a:ea typeface="Cambria" pitchFamily="34" charset="-122"/>
                <a:cs typeface="Cambria" pitchFamily="34" charset="-120"/>
              </a:rPr>
              <a:t>Conclusion</a:t>
            </a:r>
            <a:endParaRPr lang="en-US" sz="3200" dirty="0"/>
          </a:p>
        </p:txBody>
      </p:sp>
      <p:pic>
        <p:nvPicPr>
          <p:cNvPr id="21" name="Image 0" descr="klh_logo.png">
            <a:extLst>
              <a:ext uri="{FF2B5EF4-FFF2-40B4-BE49-F238E27FC236}">
                <a16:creationId xmlns:a16="http://schemas.microsoft.com/office/drawing/2014/main" id="{818D94E6-D6DF-ECD3-60A4-3FE0A3FBB180}"/>
              </a:ext>
            </a:extLst>
          </p:cNvPr>
          <p:cNvPicPr>
            <a:picLocks noChangeAspect="1"/>
          </p:cNvPicPr>
          <p:nvPr/>
        </p:nvPicPr>
        <p:blipFill>
          <a:blip r:embed="rId3"/>
          <a:stretch>
            <a:fillRect/>
          </a:stretch>
        </p:blipFill>
        <p:spPr>
          <a:xfrm>
            <a:off x="10039265" y="160020"/>
            <a:ext cx="1902045" cy="623871"/>
          </a:xfrm>
          <a:prstGeom prst="rect">
            <a:avLst/>
          </a:prstGeom>
        </p:spPr>
      </p:pic>
      <p:sp>
        <p:nvSpPr>
          <p:cNvPr id="24" name="Body"/>
          <p:cNvSpPr txBox="1"/>
          <p:nvPr/>
        </p:nvSpPr>
        <p:spPr>
          <a:xfrm>
            <a:off x="720872" y="1000000"/>
            <a:ext cx="10890460" cy="5150000"/>
          </a:xfrm>
          <a:prstGeom prst="rect">
            <a:avLst/>
          </a:prstGeom>
          <a:noFill/>
        </p:spPr>
        <p:txBody>
          <a:bodyPr wrap="square">
            <a:normAutofit/>
          </a:bodyPr>
          <a:lstStyle/>
          <a:p>
            <a:pPr marL="342900" indent="-342900">
              <a:buFont typeface="Arial" pitchFamily="34" charset="0"/>
              <a:buChar char="•"/>
            </a:pPr>
            <a:r>
              <a:rPr lang="en-US" sz="1700" dirty="0">
                <a:latin typeface="Calibri"/>
              </a:rPr>
              <a:t>Sentinel delivers a working, explainable data reliability platform: data contracts, a six-rule engine, quarantine with reasons, health scoring, a REST API, a dashboard, automated tests, and cloud deployment.</a:t>
            </a:r>
          </a:p>
          <a:p>
            <a:pPr marL="342900" indent="-342900">
              <a:buFont typeface="Arial" pitchFamily="34" charset="0"/>
              <a:buChar char="•"/>
            </a:pPr>
            <a:r>
              <a:rPr lang="en-US" sz="1700" dirty="0">
                <a:latin typeface="Calibri"/>
              </a:rPr>
              <a:t>It addresses real gaps in existing tools — heavyweight infrastructure and weak explainability — with a lightweight, transparent, framework-agnostic design.</a:t>
            </a:r>
          </a:p>
          <a:p>
            <a:pPr marL="342900" indent="-342900">
              <a:buFont typeface="Arial" pitchFamily="34" charset="0"/>
              <a:buChar char="•"/>
            </a:pPr>
            <a:r>
              <a:rPr lang="en-US" sz="1700" dirty="0">
                <a:latin typeface="Calibri"/>
              </a:rPr>
              <a:t>The architecture is built to extend across three semesters — into automated pipelines and AI-telemetry governance — without redesign.</a:t>
            </a:r>
          </a:p>
          <a:p>
            <a:pPr marL="342900" indent="-342900">
              <a:buFont typeface="Arial" pitchFamily="34" charset="0"/>
              <a:buChar char="•"/>
            </a:pPr>
            <a:r>
              <a:rPr lang="en-US" sz="1700" dirty="0">
                <a:latin typeface="Calibri"/>
              </a:rPr>
              <a:t>The project demonstrates full-stack and data-engineering skills end to end: backend, database design, REST APIs, testing, DevOps, and system design.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720872" y="-122405"/>
            <a:ext cx="9144000" cy="1188720"/>
          </a:xfrm>
          <a:prstGeom prst="rect">
            <a:avLst/>
          </a:prstGeom>
          <a:noFill/>
          <a:ln/>
        </p:spPr>
        <p:txBody>
          <a:bodyPr wrap="square" rtlCol="0" anchor="ctr"/>
          <a:lstStyle/>
          <a:p>
            <a:pPr marL="0" indent="0">
              <a:buNone/>
            </a:pPr>
            <a:r>
              <a:rPr lang="en-US" sz="3200" b="1" dirty="0">
                <a:latin typeface="Cambria" pitchFamily="34" charset="0"/>
                <a:ea typeface="Cambria" pitchFamily="34" charset="-122"/>
                <a:cs typeface="Cambria" pitchFamily="34" charset="-120"/>
              </a:rPr>
              <a:t>References</a:t>
            </a:r>
            <a:endParaRPr lang="en-US" sz="3200" dirty="0"/>
          </a:p>
        </p:txBody>
      </p:sp>
      <p:pic>
        <p:nvPicPr>
          <p:cNvPr id="21" name="Image 0" descr="klh_logo.png">
            <a:extLst>
              <a:ext uri="{FF2B5EF4-FFF2-40B4-BE49-F238E27FC236}">
                <a16:creationId xmlns:a16="http://schemas.microsoft.com/office/drawing/2014/main" id="{818D94E6-D6DF-ECD3-60A4-3FE0A3FBB180}"/>
              </a:ext>
            </a:extLst>
          </p:cNvPr>
          <p:cNvPicPr>
            <a:picLocks noChangeAspect="1"/>
          </p:cNvPicPr>
          <p:nvPr/>
        </p:nvPicPr>
        <p:blipFill>
          <a:blip r:embed="rId3"/>
          <a:stretch>
            <a:fillRect/>
          </a:stretch>
        </p:blipFill>
        <p:spPr>
          <a:xfrm>
            <a:off x="10039265" y="160020"/>
            <a:ext cx="1902045" cy="623871"/>
          </a:xfrm>
          <a:prstGeom prst="rect">
            <a:avLst/>
          </a:prstGeom>
        </p:spPr>
      </p:pic>
      <p:sp>
        <p:nvSpPr>
          <p:cNvPr id="24" name="Body"/>
          <p:cNvSpPr txBox="1"/>
          <p:nvPr/>
        </p:nvSpPr>
        <p:spPr>
          <a:xfrm>
            <a:off x="720872" y="950000"/>
            <a:ext cx="10890460" cy="5300000"/>
          </a:xfrm>
          <a:prstGeom prst="rect">
            <a:avLst/>
          </a:prstGeom>
          <a:noFill/>
        </p:spPr>
        <p:txBody>
          <a:bodyPr wrap="square">
            <a:normAutofit/>
          </a:bodyPr>
          <a:lstStyle/>
          <a:p>
            <a:pPr marL="0" indent="0">
              <a:buNone/>
            </a:pPr>
            <a:r>
              <a:rPr lang="en-US" sz="1250" dirty="0">
                <a:latin typeface="Calibri"/>
              </a:rPr>
              <a:t>[1] R. Y. Wang and D. M. Strong, "Beyond Accuracy: What Data Quality Means to Data Consumers," Journal of Management Information Systems, 1996.</a:t>
            </a:r>
          </a:p>
          <a:p>
            <a:pPr marL="0" indent="0">
              <a:buNone/>
            </a:pPr>
            <a:r>
              <a:rPr lang="en-US" sz="1250" dirty="0">
                <a:latin typeface="Calibri"/>
              </a:rPr>
              <a:t>[2] E. Rahm and H. H. Do, "Data Cleaning: Problems and Current Approaches," IEEE Data Engineering Bulletin, 2000.</a:t>
            </a:r>
          </a:p>
          <a:p>
            <a:pPr marL="0" indent="0">
              <a:buNone/>
            </a:pPr>
            <a:r>
              <a:rPr lang="en-US" sz="1250" dirty="0">
                <a:latin typeface="Calibri"/>
              </a:rPr>
              <a:t>[3] C. Batini, C. Cappiello, C. Francalanci, and A. Maurino, "Methodologies for Data Quality Assessment and Improvement," ACM Computing Surveys, 2009.</a:t>
            </a:r>
          </a:p>
          <a:p>
            <a:pPr marL="0" indent="0">
              <a:buNone/>
            </a:pPr>
            <a:r>
              <a:rPr lang="en-US" sz="1250" dirty="0">
                <a:latin typeface="Calibri"/>
              </a:rPr>
              <a:t>[4] Z. Abedjan et al., "Detecting Data Errors: Where Are We and What Needs to Be Done?," Proc. VLDB Endowment, 2016.</a:t>
            </a:r>
          </a:p>
          <a:p>
            <a:pPr marL="0" indent="0">
              <a:buNone/>
            </a:pPr>
            <a:r>
              <a:rPr lang="en-US" sz="1250" dirty="0">
                <a:latin typeface="Calibri"/>
              </a:rPr>
              <a:t>[5] S. Schelter et al., "Automating Large-Scale Data Quality Verification," Proc. VLDB Endowment, 2018.</a:t>
            </a:r>
          </a:p>
          <a:p>
            <a:pPr marL="0" indent="0">
              <a:buNone/>
            </a:pPr>
            <a:r>
              <a:rPr lang="en-US" sz="1250" dirty="0">
                <a:latin typeface="Calibri"/>
              </a:rPr>
              <a:t>[6] E. Breck, N. Polyzotis, S. Roy, S. Whang, and M. Zinkevich, "Data Validation for Machine Learning," Proc. MLSys, 2019.</a:t>
            </a:r>
          </a:p>
          <a:p>
            <a:pPr marL="0" indent="0">
              <a:buNone/>
            </a:pPr>
            <a:r>
              <a:rPr lang="en-US" sz="1250" dirty="0">
                <a:latin typeface="Calibri"/>
              </a:rPr>
              <a:t>[7] N. Hynes, D. Sculley, and M. Terry, "The Data Linter: Lightweight Automated Sanity Checking for ML Data Sets," NIPS ML Systems Workshop, 2017.</a:t>
            </a:r>
          </a:p>
          <a:p>
            <a:pPr marL="0" indent="0">
              <a:buNone/>
            </a:pPr>
            <a:r>
              <a:rPr lang="en-US" sz="1250" dirty="0">
                <a:latin typeface="Calibri"/>
              </a:rPr>
              <a:t>[8] S. Redyuk, Z. Kaoudi, V. Markl, and S. Schelter, "Automating Data Quality Validation for Dynamic Data Ingestion," Proc. EDBT, 2021.</a:t>
            </a:r>
          </a:p>
          <a:p>
            <a:pPr marL="0" indent="0">
              <a:buNone/>
            </a:pPr>
            <a:r>
              <a:rPr lang="en-US" sz="1250" dirty="0">
                <a:latin typeface="Calibri"/>
              </a:rPr>
              <a:t>[9] D. Sculley et al., "Hidden Technical Debt in Machine Learning Systems," Proc. NeurIPS, 2015.</a:t>
            </a:r>
          </a:p>
          <a:p>
            <a:pPr marL="0" indent="0">
              <a:buNone/>
            </a:pPr>
            <a:r>
              <a:rPr lang="en-US" sz="1250" dirty="0">
                <a:latin typeface="Calibri"/>
              </a:rPr>
              <a:t>[10] N. Polyzotis, S. Roy, S. Whang, and M. Zinkevich, "Data Lifecycle Challenges in Production Machine Learning: A Survey," SIGMOD Record, 2018.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2178</TotalTime>
  <Words>728</Words>
  <Application>Microsoft Office PowerPoint</Application>
  <PresentationFormat>Widescreen</PresentationFormat>
  <Paragraphs>59</Paragraphs>
  <Slides>5</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varshitha ravuri</cp:lastModifiedBy>
  <cp:revision>2</cp:revision>
  <dcterms:created xsi:type="dcterms:W3CDTF">2026-08-14T05:00:17Z</dcterms:created>
  <dcterms:modified xsi:type="dcterms:W3CDTF">2026-09-01T08:55:53Z</dcterms:modified>
</cp:coreProperties>
</file>